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57A74-3306-481E-A361-9132DC8A6980}" v="23" dt="2026-02-18T02:46:12.993"/>
    <p1510:client id="{A8AD78D5-04AB-4F05-B0B9-792C4C1F7A9F}" v="24" dt="2026-02-18T01:48:46.033"/>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43" d="100"/>
          <a:sy n="143" d="100"/>
        </p:scale>
        <p:origin x="124"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B606E-BF18-89ED-747D-2D09631689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2D0CB9-CA7E-6791-0E76-CA258FFE85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A7F255-9E09-A01F-C111-669F70EA9EC0}"/>
              </a:ext>
            </a:extLst>
          </p:cNvPr>
          <p:cNvSpPr>
            <a:spLocks noGrp="1"/>
          </p:cNvSpPr>
          <p:nvPr>
            <p:ph type="dt" sz="half" idx="10"/>
          </p:nvPr>
        </p:nvSpPr>
        <p:spPr/>
        <p:txBody>
          <a:bodyPr/>
          <a:lstStyle/>
          <a:p>
            <a:fld id="{5D635B15-13E8-4719-AFFB-E2D39AA7C38B}" type="datetimeFigureOut">
              <a:rPr lang="en-US" smtClean="0"/>
              <a:t>2/17/2026</a:t>
            </a:fld>
            <a:endParaRPr lang="en-US"/>
          </a:p>
        </p:txBody>
      </p:sp>
      <p:sp>
        <p:nvSpPr>
          <p:cNvPr id="5" name="Footer Placeholder 4">
            <a:extLst>
              <a:ext uri="{FF2B5EF4-FFF2-40B4-BE49-F238E27FC236}">
                <a16:creationId xmlns:a16="http://schemas.microsoft.com/office/drawing/2014/main" id="{61D3AD83-D252-0EED-75B5-26ACCCE7F4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6845E9-3C45-38F8-FE22-EF20F6FF06FB}"/>
              </a:ext>
            </a:extLst>
          </p:cNvPr>
          <p:cNvSpPr>
            <a:spLocks noGrp="1"/>
          </p:cNvSpPr>
          <p:nvPr>
            <p:ph type="sldNum" sz="quarter" idx="12"/>
          </p:nvPr>
        </p:nvSpPr>
        <p:spPr/>
        <p:txBody>
          <a:bodyPr/>
          <a:lstStyle/>
          <a:p>
            <a:fld id="{98009D93-1035-4252-8897-6FA9CB3A9CD8}" type="slidenum">
              <a:rPr lang="en-US" smtClean="0"/>
              <a:t>‹#›</a:t>
            </a:fld>
            <a:endParaRPr lang="en-US"/>
          </a:p>
        </p:txBody>
      </p:sp>
    </p:spTree>
    <p:extLst>
      <p:ext uri="{BB962C8B-B14F-4D97-AF65-F5344CB8AC3E}">
        <p14:creationId xmlns:p14="http://schemas.microsoft.com/office/powerpoint/2010/main" val="735873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21399-F14F-3F9F-4FD2-E9A932462A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ED92AF-2B37-E560-243D-34E04F6791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F238F4-7CF1-01C8-F953-6C150022375B}"/>
              </a:ext>
            </a:extLst>
          </p:cNvPr>
          <p:cNvSpPr>
            <a:spLocks noGrp="1"/>
          </p:cNvSpPr>
          <p:nvPr>
            <p:ph type="dt" sz="half" idx="10"/>
          </p:nvPr>
        </p:nvSpPr>
        <p:spPr/>
        <p:txBody>
          <a:bodyPr/>
          <a:lstStyle/>
          <a:p>
            <a:fld id="{5D635B15-13E8-4719-AFFB-E2D39AA7C38B}" type="datetimeFigureOut">
              <a:rPr lang="en-US" smtClean="0"/>
              <a:t>2/17/2026</a:t>
            </a:fld>
            <a:endParaRPr lang="en-US"/>
          </a:p>
        </p:txBody>
      </p:sp>
      <p:sp>
        <p:nvSpPr>
          <p:cNvPr id="5" name="Footer Placeholder 4">
            <a:extLst>
              <a:ext uri="{FF2B5EF4-FFF2-40B4-BE49-F238E27FC236}">
                <a16:creationId xmlns:a16="http://schemas.microsoft.com/office/drawing/2014/main" id="{6173A24A-ECC7-74DB-F758-979BD3549E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4BDA48-BF8D-65B3-0B45-4C63B277872F}"/>
              </a:ext>
            </a:extLst>
          </p:cNvPr>
          <p:cNvSpPr>
            <a:spLocks noGrp="1"/>
          </p:cNvSpPr>
          <p:nvPr>
            <p:ph type="sldNum" sz="quarter" idx="12"/>
          </p:nvPr>
        </p:nvSpPr>
        <p:spPr/>
        <p:txBody>
          <a:bodyPr/>
          <a:lstStyle/>
          <a:p>
            <a:fld id="{98009D93-1035-4252-8897-6FA9CB3A9CD8}" type="slidenum">
              <a:rPr lang="en-US" smtClean="0"/>
              <a:t>‹#›</a:t>
            </a:fld>
            <a:endParaRPr lang="en-US"/>
          </a:p>
        </p:txBody>
      </p:sp>
    </p:spTree>
    <p:extLst>
      <p:ext uri="{BB962C8B-B14F-4D97-AF65-F5344CB8AC3E}">
        <p14:creationId xmlns:p14="http://schemas.microsoft.com/office/powerpoint/2010/main" val="2286984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3216B-52B7-C804-3B1A-8D0958A726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48FE63-72B8-11A7-4244-C078DCC706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753B95-4F8A-142C-7FBF-0CBE5DDD932C}"/>
              </a:ext>
            </a:extLst>
          </p:cNvPr>
          <p:cNvSpPr>
            <a:spLocks noGrp="1"/>
          </p:cNvSpPr>
          <p:nvPr>
            <p:ph type="dt" sz="half" idx="10"/>
          </p:nvPr>
        </p:nvSpPr>
        <p:spPr/>
        <p:txBody>
          <a:bodyPr/>
          <a:lstStyle/>
          <a:p>
            <a:fld id="{5D635B15-13E8-4719-AFFB-E2D39AA7C38B}" type="datetimeFigureOut">
              <a:rPr lang="en-US" smtClean="0"/>
              <a:t>2/17/2026</a:t>
            </a:fld>
            <a:endParaRPr lang="en-US"/>
          </a:p>
        </p:txBody>
      </p:sp>
      <p:sp>
        <p:nvSpPr>
          <p:cNvPr id="5" name="Footer Placeholder 4">
            <a:extLst>
              <a:ext uri="{FF2B5EF4-FFF2-40B4-BE49-F238E27FC236}">
                <a16:creationId xmlns:a16="http://schemas.microsoft.com/office/drawing/2014/main" id="{3EF93E57-DCF9-D2EC-395E-5FAC51B1A5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463C94-BC19-9C25-06D3-CDE5EA737949}"/>
              </a:ext>
            </a:extLst>
          </p:cNvPr>
          <p:cNvSpPr>
            <a:spLocks noGrp="1"/>
          </p:cNvSpPr>
          <p:nvPr>
            <p:ph type="sldNum" sz="quarter" idx="12"/>
          </p:nvPr>
        </p:nvSpPr>
        <p:spPr/>
        <p:txBody>
          <a:bodyPr/>
          <a:lstStyle/>
          <a:p>
            <a:fld id="{98009D93-1035-4252-8897-6FA9CB3A9CD8}" type="slidenum">
              <a:rPr lang="en-US" smtClean="0"/>
              <a:t>‹#›</a:t>
            </a:fld>
            <a:endParaRPr lang="en-US"/>
          </a:p>
        </p:txBody>
      </p:sp>
    </p:spTree>
    <p:extLst>
      <p:ext uri="{BB962C8B-B14F-4D97-AF65-F5344CB8AC3E}">
        <p14:creationId xmlns:p14="http://schemas.microsoft.com/office/powerpoint/2010/main" val="1827954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D4A5E-7414-9ECA-0799-5AE49FDF57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865F48-CAE3-BA75-5295-3D9BC8DCC4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1FA6B1-3309-BE2B-1D4D-54A9B0BFE3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95EFFE-3B57-E93B-4FEC-1A4DE906E832}"/>
              </a:ext>
            </a:extLst>
          </p:cNvPr>
          <p:cNvSpPr>
            <a:spLocks noGrp="1"/>
          </p:cNvSpPr>
          <p:nvPr>
            <p:ph type="dt" sz="half" idx="10"/>
          </p:nvPr>
        </p:nvSpPr>
        <p:spPr/>
        <p:txBody>
          <a:bodyPr/>
          <a:lstStyle/>
          <a:p>
            <a:fld id="{5D635B15-13E8-4719-AFFB-E2D39AA7C38B}" type="datetimeFigureOut">
              <a:rPr lang="en-US" smtClean="0"/>
              <a:t>2/17/2026</a:t>
            </a:fld>
            <a:endParaRPr lang="en-US"/>
          </a:p>
        </p:txBody>
      </p:sp>
      <p:sp>
        <p:nvSpPr>
          <p:cNvPr id="6" name="Footer Placeholder 5">
            <a:extLst>
              <a:ext uri="{FF2B5EF4-FFF2-40B4-BE49-F238E27FC236}">
                <a16:creationId xmlns:a16="http://schemas.microsoft.com/office/drawing/2014/main" id="{6029FCF5-13A9-DBA9-018F-FEA75E9F1F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5AE4C5-68D8-9D94-9E62-7BA6209A1B74}"/>
              </a:ext>
            </a:extLst>
          </p:cNvPr>
          <p:cNvSpPr>
            <a:spLocks noGrp="1"/>
          </p:cNvSpPr>
          <p:nvPr>
            <p:ph type="sldNum" sz="quarter" idx="12"/>
          </p:nvPr>
        </p:nvSpPr>
        <p:spPr/>
        <p:txBody>
          <a:bodyPr/>
          <a:lstStyle/>
          <a:p>
            <a:fld id="{98009D93-1035-4252-8897-6FA9CB3A9CD8}" type="slidenum">
              <a:rPr lang="en-US" smtClean="0"/>
              <a:t>‹#›</a:t>
            </a:fld>
            <a:endParaRPr lang="en-US"/>
          </a:p>
        </p:txBody>
      </p:sp>
    </p:spTree>
    <p:extLst>
      <p:ext uri="{BB962C8B-B14F-4D97-AF65-F5344CB8AC3E}">
        <p14:creationId xmlns:p14="http://schemas.microsoft.com/office/powerpoint/2010/main" val="637005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EC218-F1B0-BF28-53AF-35B008D870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C351BF-E600-F9C2-D610-5DE10ADCBA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65446B-2831-93BE-7045-F5DF4938AA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610DAF-488D-5402-1777-5F98C85A6F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1DEFB4-E47A-6A40-6EA4-1AA64C98DC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96052C-1736-AC06-DEAA-9D7C43F9230D}"/>
              </a:ext>
            </a:extLst>
          </p:cNvPr>
          <p:cNvSpPr>
            <a:spLocks noGrp="1"/>
          </p:cNvSpPr>
          <p:nvPr>
            <p:ph type="dt" sz="half" idx="10"/>
          </p:nvPr>
        </p:nvSpPr>
        <p:spPr/>
        <p:txBody>
          <a:bodyPr/>
          <a:lstStyle/>
          <a:p>
            <a:fld id="{5D635B15-13E8-4719-AFFB-E2D39AA7C38B}" type="datetimeFigureOut">
              <a:rPr lang="en-US" smtClean="0"/>
              <a:t>2/17/2026</a:t>
            </a:fld>
            <a:endParaRPr lang="en-US"/>
          </a:p>
        </p:txBody>
      </p:sp>
      <p:sp>
        <p:nvSpPr>
          <p:cNvPr id="8" name="Footer Placeholder 7">
            <a:extLst>
              <a:ext uri="{FF2B5EF4-FFF2-40B4-BE49-F238E27FC236}">
                <a16:creationId xmlns:a16="http://schemas.microsoft.com/office/drawing/2014/main" id="{F28D407C-9D4C-1C1A-9DA0-A37CAE8276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2976E2-E003-2521-1EA3-172F3240D1AB}"/>
              </a:ext>
            </a:extLst>
          </p:cNvPr>
          <p:cNvSpPr>
            <a:spLocks noGrp="1"/>
          </p:cNvSpPr>
          <p:nvPr>
            <p:ph type="sldNum" sz="quarter" idx="12"/>
          </p:nvPr>
        </p:nvSpPr>
        <p:spPr/>
        <p:txBody>
          <a:bodyPr/>
          <a:lstStyle/>
          <a:p>
            <a:fld id="{98009D93-1035-4252-8897-6FA9CB3A9CD8}" type="slidenum">
              <a:rPr lang="en-US" smtClean="0"/>
              <a:t>‹#›</a:t>
            </a:fld>
            <a:endParaRPr lang="en-US"/>
          </a:p>
        </p:txBody>
      </p:sp>
    </p:spTree>
    <p:extLst>
      <p:ext uri="{BB962C8B-B14F-4D97-AF65-F5344CB8AC3E}">
        <p14:creationId xmlns:p14="http://schemas.microsoft.com/office/powerpoint/2010/main" val="3606432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0FB0A-4EF0-DA40-9F38-841DC159B4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C38AD1-8C27-A12F-8CA9-F1DAB340FB5D}"/>
              </a:ext>
            </a:extLst>
          </p:cNvPr>
          <p:cNvSpPr>
            <a:spLocks noGrp="1"/>
          </p:cNvSpPr>
          <p:nvPr>
            <p:ph type="dt" sz="half" idx="10"/>
          </p:nvPr>
        </p:nvSpPr>
        <p:spPr/>
        <p:txBody>
          <a:bodyPr/>
          <a:lstStyle/>
          <a:p>
            <a:fld id="{5D635B15-13E8-4719-AFFB-E2D39AA7C38B}" type="datetimeFigureOut">
              <a:rPr lang="en-US" smtClean="0"/>
              <a:t>2/17/2026</a:t>
            </a:fld>
            <a:endParaRPr lang="en-US"/>
          </a:p>
        </p:txBody>
      </p:sp>
      <p:sp>
        <p:nvSpPr>
          <p:cNvPr id="4" name="Footer Placeholder 3">
            <a:extLst>
              <a:ext uri="{FF2B5EF4-FFF2-40B4-BE49-F238E27FC236}">
                <a16:creationId xmlns:a16="http://schemas.microsoft.com/office/drawing/2014/main" id="{FE2D5365-69CE-1D05-069E-48A1D135C3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DAD84D-23E5-911E-7602-470D2D462E51}"/>
              </a:ext>
            </a:extLst>
          </p:cNvPr>
          <p:cNvSpPr>
            <a:spLocks noGrp="1"/>
          </p:cNvSpPr>
          <p:nvPr>
            <p:ph type="sldNum" sz="quarter" idx="12"/>
          </p:nvPr>
        </p:nvSpPr>
        <p:spPr/>
        <p:txBody>
          <a:bodyPr/>
          <a:lstStyle/>
          <a:p>
            <a:fld id="{98009D93-1035-4252-8897-6FA9CB3A9CD8}" type="slidenum">
              <a:rPr lang="en-US" smtClean="0"/>
              <a:t>‹#›</a:t>
            </a:fld>
            <a:endParaRPr lang="en-US"/>
          </a:p>
        </p:txBody>
      </p:sp>
    </p:spTree>
    <p:extLst>
      <p:ext uri="{BB962C8B-B14F-4D97-AF65-F5344CB8AC3E}">
        <p14:creationId xmlns:p14="http://schemas.microsoft.com/office/powerpoint/2010/main" val="1130409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F47106-8587-6674-7A82-A9D39056A1A3}"/>
              </a:ext>
            </a:extLst>
          </p:cNvPr>
          <p:cNvSpPr>
            <a:spLocks noGrp="1"/>
          </p:cNvSpPr>
          <p:nvPr>
            <p:ph type="dt" sz="half" idx="10"/>
          </p:nvPr>
        </p:nvSpPr>
        <p:spPr/>
        <p:txBody>
          <a:bodyPr/>
          <a:lstStyle/>
          <a:p>
            <a:fld id="{5D635B15-13E8-4719-AFFB-E2D39AA7C38B}" type="datetimeFigureOut">
              <a:rPr lang="en-US" smtClean="0"/>
              <a:t>2/17/2026</a:t>
            </a:fld>
            <a:endParaRPr lang="en-US"/>
          </a:p>
        </p:txBody>
      </p:sp>
      <p:sp>
        <p:nvSpPr>
          <p:cNvPr id="3" name="Footer Placeholder 2">
            <a:extLst>
              <a:ext uri="{FF2B5EF4-FFF2-40B4-BE49-F238E27FC236}">
                <a16:creationId xmlns:a16="http://schemas.microsoft.com/office/drawing/2014/main" id="{F7D1E531-9485-6823-C527-6B958A0FA9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83FA27-85D9-6D4B-50B3-54B8F2439D35}"/>
              </a:ext>
            </a:extLst>
          </p:cNvPr>
          <p:cNvSpPr>
            <a:spLocks noGrp="1"/>
          </p:cNvSpPr>
          <p:nvPr>
            <p:ph type="sldNum" sz="quarter" idx="12"/>
          </p:nvPr>
        </p:nvSpPr>
        <p:spPr/>
        <p:txBody>
          <a:bodyPr/>
          <a:lstStyle/>
          <a:p>
            <a:fld id="{98009D93-1035-4252-8897-6FA9CB3A9CD8}" type="slidenum">
              <a:rPr lang="en-US" smtClean="0"/>
              <a:t>‹#›</a:t>
            </a:fld>
            <a:endParaRPr lang="en-US"/>
          </a:p>
        </p:txBody>
      </p:sp>
    </p:spTree>
    <p:extLst>
      <p:ext uri="{BB962C8B-B14F-4D97-AF65-F5344CB8AC3E}">
        <p14:creationId xmlns:p14="http://schemas.microsoft.com/office/powerpoint/2010/main" val="970696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7C92A-7955-4BC1-9E17-2AD45185BF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96B592-13AB-85AB-9107-86B3A9540D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3D40B3-B581-BBBC-97BC-B1E8C2530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16932-B0A1-4A25-3DC8-4970A96CF5E2}"/>
              </a:ext>
            </a:extLst>
          </p:cNvPr>
          <p:cNvSpPr>
            <a:spLocks noGrp="1"/>
          </p:cNvSpPr>
          <p:nvPr>
            <p:ph type="dt" sz="half" idx="10"/>
          </p:nvPr>
        </p:nvSpPr>
        <p:spPr/>
        <p:txBody>
          <a:bodyPr/>
          <a:lstStyle/>
          <a:p>
            <a:fld id="{5D635B15-13E8-4719-AFFB-E2D39AA7C38B}" type="datetimeFigureOut">
              <a:rPr lang="en-US" smtClean="0"/>
              <a:t>2/17/2026</a:t>
            </a:fld>
            <a:endParaRPr lang="en-US"/>
          </a:p>
        </p:txBody>
      </p:sp>
      <p:sp>
        <p:nvSpPr>
          <p:cNvPr id="6" name="Footer Placeholder 5">
            <a:extLst>
              <a:ext uri="{FF2B5EF4-FFF2-40B4-BE49-F238E27FC236}">
                <a16:creationId xmlns:a16="http://schemas.microsoft.com/office/drawing/2014/main" id="{5CB4DA03-5904-CC9F-AFCA-7ED4ABFA3B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54163A-208E-B6C8-389D-6E439B7EF7BA}"/>
              </a:ext>
            </a:extLst>
          </p:cNvPr>
          <p:cNvSpPr>
            <a:spLocks noGrp="1"/>
          </p:cNvSpPr>
          <p:nvPr>
            <p:ph type="sldNum" sz="quarter" idx="12"/>
          </p:nvPr>
        </p:nvSpPr>
        <p:spPr/>
        <p:txBody>
          <a:bodyPr/>
          <a:lstStyle/>
          <a:p>
            <a:fld id="{98009D93-1035-4252-8897-6FA9CB3A9CD8}" type="slidenum">
              <a:rPr lang="en-US" smtClean="0"/>
              <a:t>‹#›</a:t>
            </a:fld>
            <a:endParaRPr lang="en-US"/>
          </a:p>
        </p:txBody>
      </p:sp>
    </p:spTree>
    <p:extLst>
      <p:ext uri="{BB962C8B-B14F-4D97-AF65-F5344CB8AC3E}">
        <p14:creationId xmlns:p14="http://schemas.microsoft.com/office/powerpoint/2010/main" val="2898734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8BFF2-EBAA-9042-D724-BFB13DD8FC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569BE4-D362-4A12-5AB3-2A19013BD6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D7AAFC-2B29-1971-CF13-FE741A27EB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E6B6D4-B839-5878-6B43-7353F7F5A5C9}"/>
              </a:ext>
            </a:extLst>
          </p:cNvPr>
          <p:cNvSpPr>
            <a:spLocks noGrp="1"/>
          </p:cNvSpPr>
          <p:nvPr>
            <p:ph type="dt" sz="half" idx="10"/>
          </p:nvPr>
        </p:nvSpPr>
        <p:spPr/>
        <p:txBody>
          <a:bodyPr/>
          <a:lstStyle/>
          <a:p>
            <a:fld id="{5D635B15-13E8-4719-AFFB-E2D39AA7C38B}" type="datetimeFigureOut">
              <a:rPr lang="en-US" smtClean="0"/>
              <a:t>2/17/2026</a:t>
            </a:fld>
            <a:endParaRPr lang="en-US"/>
          </a:p>
        </p:txBody>
      </p:sp>
      <p:sp>
        <p:nvSpPr>
          <p:cNvPr id="6" name="Footer Placeholder 5">
            <a:extLst>
              <a:ext uri="{FF2B5EF4-FFF2-40B4-BE49-F238E27FC236}">
                <a16:creationId xmlns:a16="http://schemas.microsoft.com/office/drawing/2014/main" id="{C78A479D-EAA8-AB08-7A79-2AFAD41CD1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C3B7D8-1A0A-84FB-DDCA-88C17166E0DF}"/>
              </a:ext>
            </a:extLst>
          </p:cNvPr>
          <p:cNvSpPr>
            <a:spLocks noGrp="1"/>
          </p:cNvSpPr>
          <p:nvPr>
            <p:ph type="sldNum" sz="quarter" idx="12"/>
          </p:nvPr>
        </p:nvSpPr>
        <p:spPr/>
        <p:txBody>
          <a:bodyPr/>
          <a:lstStyle/>
          <a:p>
            <a:fld id="{98009D93-1035-4252-8897-6FA9CB3A9CD8}" type="slidenum">
              <a:rPr lang="en-US" smtClean="0"/>
              <a:t>‹#›</a:t>
            </a:fld>
            <a:endParaRPr lang="en-US"/>
          </a:p>
        </p:txBody>
      </p:sp>
    </p:spTree>
    <p:extLst>
      <p:ext uri="{BB962C8B-B14F-4D97-AF65-F5344CB8AC3E}">
        <p14:creationId xmlns:p14="http://schemas.microsoft.com/office/powerpoint/2010/main" val="938351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BC7E-7EF4-5EC9-6223-D0E3D5BC1D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29A199-DD49-5D44-FE61-158E008D48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4CA3F8-4A69-AA23-54D3-A55DC445AECF}"/>
              </a:ext>
            </a:extLst>
          </p:cNvPr>
          <p:cNvSpPr>
            <a:spLocks noGrp="1"/>
          </p:cNvSpPr>
          <p:nvPr>
            <p:ph type="dt" sz="half" idx="10"/>
          </p:nvPr>
        </p:nvSpPr>
        <p:spPr/>
        <p:txBody>
          <a:bodyPr/>
          <a:lstStyle/>
          <a:p>
            <a:fld id="{5D635B15-13E8-4719-AFFB-E2D39AA7C38B}" type="datetimeFigureOut">
              <a:rPr lang="en-US" smtClean="0"/>
              <a:t>2/17/2026</a:t>
            </a:fld>
            <a:endParaRPr lang="en-US"/>
          </a:p>
        </p:txBody>
      </p:sp>
      <p:sp>
        <p:nvSpPr>
          <p:cNvPr id="5" name="Footer Placeholder 4">
            <a:extLst>
              <a:ext uri="{FF2B5EF4-FFF2-40B4-BE49-F238E27FC236}">
                <a16:creationId xmlns:a16="http://schemas.microsoft.com/office/drawing/2014/main" id="{41851BF8-9C06-75AF-1A6A-658295F0DB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844326-7AB1-97F1-EB8E-E8C53244A191}"/>
              </a:ext>
            </a:extLst>
          </p:cNvPr>
          <p:cNvSpPr>
            <a:spLocks noGrp="1"/>
          </p:cNvSpPr>
          <p:nvPr>
            <p:ph type="sldNum" sz="quarter" idx="12"/>
          </p:nvPr>
        </p:nvSpPr>
        <p:spPr/>
        <p:txBody>
          <a:bodyPr/>
          <a:lstStyle/>
          <a:p>
            <a:fld id="{98009D93-1035-4252-8897-6FA9CB3A9CD8}" type="slidenum">
              <a:rPr lang="en-US" smtClean="0"/>
              <a:t>‹#›</a:t>
            </a:fld>
            <a:endParaRPr lang="en-US"/>
          </a:p>
        </p:txBody>
      </p:sp>
    </p:spTree>
    <p:extLst>
      <p:ext uri="{BB962C8B-B14F-4D97-AF65-F5344CB8AC3E}">
        <p14:creationId xmlns:p14="http://schemas.microsoft.com/office/powerpoint/2010/main" val="1774417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15722E-FDA4-EACB-80F4-86784CE502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6A99B8-B8DF-B639-5D5C-58514830B6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C1F9B-4B27-F517-1A11-39CDE37D3A17}"/>
              </a:ext>
            </a:extLst>
          </p:cNvPr>
          <p:cNvSpPr>
            <a:spLocks noGrp="1"/>
          </p:cNvSpPr>
          <p:nvPr>
            <p:ph type="dt" sz="half" idx="10"/>
          </p:nvPr>
        </p:nvSpPr>
        <p:spPr/>
        <p:txBody>
          <a:bodyPr/>
          <a:lstStyle/>
          <a:p>
            <a:fld id="{5D635B15-13E8-4719-AFFB-E2D39AA7C38B}" type="datetimeFigureOut">
              <a:rPr lang="en-US" smtClean="0"/>
              <a:t>2/17/2026</a:t>
            </a:fld>
            <a:endParaRPr lang="en-US"/>
          </a:p>
        </p:txBody>
      </p:sp>
      <p:sp>
        <p:nvSpPr>
          <p:cNvPr id="5" name="Footer Placeholder 4">
            <a:extLst>
              <a:ext uri="{FF2B5EF4-FFF2-40B4-BE49-F238E27FC236}">
                <a16:creationId xmlns:a16="http://schemas.microsoft.com/office/drawing/2014/main" id="{3F06D123-9830-E3C5-16D8-CCFDEE05E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FE577A-0FD7-EFCF-BC4D-69D41780DA69}"/>
              </a:ext>
            </a:extLst>
          </p:cNvPr>
          <p:cNvSpPr>
            <a:spLocks noGrp="1"/>
          </p:cNvSpPr>
          <p:nvPr>
            <p:ph type="sldNum" sz="quarter" idx="12"/>
          </p:nvPr>
        </p:nvSpPr>
        <p:spPr/>
        <p:txBody>
          <a:bodyPr/>
          <a:lstStyle/>
          <a:p>
            <a:fld id="{98009D93-1035-4252-8897-6FA9CB3A9CD8}" type="slidenum">
              <a:rPr lang="en-US" smtClean="0"/>
              <a:t>‹#›</a:t>
            </a:fld>
            <a:endParaRPr lang="en-US"/>
          </a:p>
        </p:txBody>
      </p:sp>
    </p:spTree>
    <p:extLst>
      <p:ext uri="{BB962C8B-B14F-4D97-AF65-F5344CB8AC3E}">
        <p14:creationId xmlns:p14="http://schemas.microsoft.com/office/powerpoint/2010/main" val="4210390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F0D25A-8179-BCD4-3B57-8C8F28D62D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FFB17F-89CA-D02F-0887-3BBCD58176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53EA8-98F9-21BA-0EC0-86730BDCB7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635B15-13E8-4719-AFFB-E2D39AA7C38B}" type="datetimeFigureOut">
              <a:rPr lang="en-US" smtClean="0"/>
              <a:t>2/17/2026</a:t>
            </a:fld>
            <a:endParaRPr lang="en-US"/>
          </a:p>
        </p:txBody>
      </p:sp>
      <p:sp>
        <p:nvSpPr>
          <p:cNvPr id="5" name="Footer Placeholder 4">
            <a:extLst>
              <a:ext uri="{FF2B5EF4-FFF2-40B4-BE49-F238E27FC236}">
                <a16:creationId xmlns:a16="http://schemas.microsoft.com/office/drawing/2014/main" id="{E51CB342-8653-7575-3D6F-3CA300BD08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1750846-6B95-522F-B8D1-71645E2E2A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009D93-1035-4252-8897-6FA9CB3A9CD8}" type="slidenum">
              <a:rPr lang="en-US" smtClean="0"/>
              <a:t>‹#›</a:t>
            </a:fld>
            <a:endParaRPr lang="en-US"/>
          </a:p>
        </p:txBody>
      </p:sp>
    </p:spTree>
    <p:extLst>
      <p:ext uri="{BB962C8B-B14F-4D97-AF65-F5344CB8AC3E}">
        <p14:creationId xmlns:p14="http://schemas.microsoft.com/office/powerpoint/2010/main" val="3994032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8531FA-B408-80ED-0F52-C7DD3BE2505C}"/>
              </a:ext>
            </a:extLst>
          </p:cNvPr>
          <p:cNvSpPr>
            <a:spLocks noGrp="1"/>
          </p:cNvSpPr>
          <p:nvPr>
            <p:ph type="ctrTitle"/>
          </p:nvPr>
        </p:nvSpPr>
        <p:spPr>
          <a:xfrm>
            <a:off x="5297762" y="640080"/>
            <a:ext cx="6251110" cy="3566160"/>
          </a:xfrm>
        </p:spPr>
        <p:txBody>
          <a:bodyPr anchor="b">
            <a:normAutofit/>
          </a:bodyPr>
          <a:lstStyle/>
          <a:p>
            <a:pPr algn="l"/>
            <a:r>
              <a:rPr lang="en-US" sz="5400" b="1"/>
              <a:t>PrintNet: A Scalable 3D Print Farm Management System</a:t>
            </a:r>
            <a:endParaRPr lang="en-US" sz="5400"/>
          </a:p>
        </p:txBody>
      </p:sp>
      <p:sp>
        <p:nvSpPr>
          <p:cNvPr id="3" name="Subtitle 2">
            <a:extLst>
              <a:ext uri="{FF2B5EF4-FFF2-40B4-BE49-F238E27FC236}">
                <a16:creationId xmlns:a16="http://schemas.microsoft.com/office/drawing/2014/main" id="{261D8528-1667-9566-22AE-E61CD17C83AC}"/>
              </a:ext>
            </a:extLst>
          </p:cNvPr>
          <p:cNvSpPr>
            <a:spLocks noGrp="1"/>
          </p:cNvSpPr>
          <p:nvPr>
            <p:ph type="subTitle" idx="1"/>
          </p:nvPr>
        </p:nvSpPr>
        <p:spPr>
          <a:xfrm>
            <a:off x="5297760" y="4636008"/>
            <a:ext cx="6251111" cy="1572768"/>
          </a:xfrm>
        </p:spPr>
        <p:txBody>
          <a:bodyPr>
            <a:normAutofit/>
          </a:bodyPr>
          <a:lstStyle/>
          <a:p>
            <a:pPr algn="l"/>
            <a:r>
              <a:rPr lang="en-US" sz="1100" b="1"/>
              <a:t>Team Members:</a:t>
            </a:r>
            <a:br>
              <a:rPr lang="en-US" sz="1100"/>
            </a:br>
            <a:r>
              <a:rPr lang="en-US" sz="1100"/>
              <a:t>Muneer Al-Khasawneh</a:t>
            </a:r>
            <a:br>
              <a:rPr lang="en-US" sz="1100"/>
            </a:br>
            <a:r>
              <a:rPr lang="en-US" sz="1100"/>
              <a:t>Muhanad Al-Khasawneh</a:t>
            </a:r>
            <a:br>
              <a:rPr lang="en-US" sz="1100"/>
            </a:br>
            <a:r>
              <a:rPr lang="en-US" sz="1100"/>
              <a:t>Mitchell Koski</a:t>
            </a:r>
          </a:p>
          <a:p>
            <a:pPr algn="l"/>
            <a:r>
              <a:rPr lang="en-US" sz="1100" b="1"/>
              <a:t>Advisor:</a:t>
            </a:r>
            <a:br>
              <a:rPr lang="en-US" sz="1100"/>
            </a:br>
            <a:r>
              <a:rPr lang="en-US" sz="1100"/>
              <a:t>Jeremy Hill</a:t>
            </a:r>
          </a:p>
          <a:p>
            <a:pPr algn="l"/>
            <a:r>
              <a:rPr lang="en-US" sz="1100" b="1"/>
              <a:t>University of Cincinnati — CEAS</a:t>
            </a:r>
            <a:br>
              <a:rPr lang="en-US" sz="1100"/>
            </a:br>
            <a:r>
              <a:rPr lang="en-US" sz="1100"/>
              <a:t>Senior Design (CS 5002)</a:t>
            </a:r>
          </a:p>
          <a:p>
            <a:pPr algn="l"/>
            <a:endParaRPr lang="en-US" sz="1100"/>
          </a:p>
        </p:txBody>
      </p:sp>
      <p:pic>
        <p:nvPicPr>
          <p:cNvPr id="20" name="Picture 19" descr="Hexagon network on a blue background">
            <a:extLst>
              <a:ext uri="{FF2B5EF4-FFF2-40B4-BE49-F238E27FC236}">
                <a16:creationId xmlns:a16="http://schemas.microsoft.com/office/drawing/2014/main" id="{FE2A2BC6-B3A7-D551-5FC4-532A8E5D9B98}"/>
              </a:ext>
            </a:extLst>
          </p:cNvPr>
          <p:cNvPicPr>
            <a:picLocks noChangeAspect="1"/>
          </p:cNvPicPr>
          <p:nvPr/>
        </p:nvPicPr>
        <p:blipFill>
          <a:blip r:embed="rId2"/>
          <a:srcRect l="8587" r="50666"/>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0499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E4EF40-01E8-B0AF-E0A6-E9BA79FC4641}"/>
              </a:ext>
            </a:extLst>
          </p:cNvPr>
          <p:cNvSpPr>
            <a:spLocks noGrp="1"/>
          </p:cNvSpPr>
          <p:nvPr>
            <p:ph type="title"/>
          </p:nvPr>
        </p:nvSpPr>
        <p:spPr>
          <a:xfrm>
            <a:off x="5297762" y="329184"/>
            <a:ext cx="6251110" cy="1783080"/>
          </a:xfrm>
        </p:spPr>
        <p:txBody>
          <a:bodyPr anchor="b">
            <a:normAutofit/>
          </a:bodyPr>
          <a:lstStyle/>
          <a:p>
            <a:r>
              <a:rPr lang="en-US" sz="5400"/>
              <a:t>Goals &amp; Background</a:t>
            </a:r>
          </a:p>
        </p:txBody>
      </p:sp>
      <p:pic>
        <p:nvPicPr>
          <p:cNvPr id="12" name="Picture 11" descr="Robot operating a machine">
            <a:extLst>
              <a:ext uri="{FF2B5EF4-FFF2-40B4-BE49-F238E27FC236}">
                <a16:creationId xmlns:a16="http://schemas.microsoft.com/office/drawing/2014/main" id="{DF6226A3-0C53-695F-4492-01074C93696E}"/>
              </a:ext>
            </a:extLst>
          </p:cNvPr>
          <p:cNvPicPr>
            <a:picLocks noChangeAspect="1"/>
          </p:cNvPicPr>
          <p:nvPr/>
        </p:nvPicPr>
        <p:blipFill>
          <a:blip r:embed="rId2"/>
          <a:srcRect l="24900" r="22979"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3BCC5018-856F-49A1-04C6-7E6AEC34199E}"/>
              </a:ext>
            </a:extLst>
          </p:cNvPr>
          <p:cNvSpPr>
            <a:spLocks noGrp="1"/>
          </p:cNvSpPr>
          <p:nvPr>
            <p:ph idx="1"/>
          </p:nvPr>
        </p:nvSpPr>
        <p:spPr>
          <a:xfrm>
            <a:off x="5297762" y="2706624"/>
            <a:ext cx="6251110" cy="3483864"/>
          </a:xfrm>
        </p:spPr>
        <p:txBody>
          <a:bodyPr>
            <a:normAutofit/>
          </a:bodyPr>
          <a:lstStyle/>
          <a:p>
            <a:pPr marL="0" indent="0">
              <a:buNone/>
            </a:pPr>
            <a:r>
              <a:rPr lang="en-US" sz="1500" b="1"/>
              <a:t>Background</a:t>
            </a:r>
          </a:p>
          <a:p>
            <a:pPr marL="0" indent="0">
              <a:buNone/>
            </a:pPr>
            <a:r>
              <a:rPr lang="en-US" sz="1500"/>
              <a:t>University 3D print labs commonly rely on fragmented tools such as Google Forms, spreadsheets, and manual printer monitoring. This leads to inefficiencies, limited scalability, and poor visibility into job status and printer health.</a:t>
            </a:r>
          </a:p>
          <a:p>
            <a:pPr marL="0" indent="0">
              <a:buNone/>
            </a:pPr>
            <a:r>
              <a:rPr lang="en-US" sz="1500" b="1"/>
              <a:t>Project Goals</a:t>
            </a:r>
          </a:p>
          <a:p>
            <a:r>
              <a:rPr lang="en-US" sz="1500"/>
              <a:t>Centralize 3D print job submission, scheduling, and monitoring</a:t>
            </a:r>
          </a:p>
          <a:p>
            <a:r>
              <a:rPr lang="en-US" sz="1500"/>
              <a:t>Automate printer management using industry-standard APIs</a:t>
            </a:r>
          </a:p>
          <a:p>
            <a:r>
              <a:rPr lang="en-US" sz="1500"/>
              <a:t>Improve transparency for students, technicians, and lab managers</a:t>
            </a:r>
          </a:p>
          <a:p>
            <a:r>
              <a:rPr lang="en-US" sz="1500"/>
              <a:t>Build a scalable system adaptable to multi-printer environments</a:t>
            </a:r>
          </a:p>
          <a:p>
            <a:pPr marL="0" indent="0">
              <a:buNone/>
            </a:pPr>
            <a:endParaRPr lang="en-US" sz="1500"/>
          </a:p>
        </p:txBody>
      </p:sp>
    </p:spTree>
    <p:extLst>
      <p:ext uri="{BB962C8B-B14F-4D97-AF65-F5344CB8AC3E}">
        <p14:creationId xmlns:p14="http://schemas.microsoft.com/office/powerpoint/2010/main" val="1921924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6AE85655-E849-7365-F26A-8C522B79AB88}"/>
              </a:ext>
            </a:extLst>
          </p:cNvPr>
          <p:cNvSpPr>
            <a:spLocks noGrp="1"/>
          </p:cNvSpPr>
          <p:nvPr>
            <p:ph type="title"/>
          </p:nvPr>
        </p:nvSpPr>
        <p:spPr>
          <a:xfrm>
            <a:off x="1188069" y="381935"/>
            <a:ext cx="4008583" cy="5974414"/>
          </a:xfrm>
        </p:spPr>
        <p:txBody>
          <a:bodyPr anchor="ctr">
            <a:normAutofit/>
          </a:bodyPr>
          <a:lstStyle/>
          <a:p>
            <a:r>
              <a:rPr lang="en-US" sz="6200">
                <a:solidFill>
                  <a:srgbClr val="FFFFFF"/>
                </a:solidFill>
              </a:rPr>
              <a:t>Intellectual Merits</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B6E09D2B-69DE-F458-7698-39229F32AF68}"/>
              </a:ext>
            </a:extLst>
          </p:cNvPr>
          <p:cNvSpPr>
            <a:spLocks noGrp="1"/>
          </p:cNvSpPr>
          <p:nvPr>
            <p:ph idx="1"/>
          </p:nvPr>
        </p:nvSpPr>
        <p:spPr>
          <a:xfrm>
            <a:off x="6297233" y="518400"/>
            <a:ext cx="4771607" cy="5837949"/>
          </a:xfrm>
        </p:spPr>
        <p:txBody>
          <a:bodyPr anchor="ctr">
            <a:normAutofit/>
          </a:bodyPr>
          <a:lstStyle/>
          <a:p>
            <a:pPr marL="0" indent="0">
              <a:buNone/>
            </a:pPr>
            <a:r>
              <a:rPr lang="en-US" sz="1600" b="1">
                <a:solidFill>
                  <a:schemeClr val="tx1">
                    <a:alpha val="80000"/>
                  </a:schemeClr>
                </a:solidFill>
              </a:rPr>
              <a:t>Technical Innovation</a:t>
            </a:r>
            <a:endParaRPr lang="en-US" sz="1600">
              <a:solidFill>
                <a:schemeClr val="tx1">
                  <a:alpha val="80000"/>
                </a:schemeClr>
              </a:solidFill>
            </a:endParaRPr>
          </a:p>
          <a:p>
            <a:r>
              <a:rPr lang="en-US" sz="1600">
                <a:solidFill>
                  <a:schemeClr val="tx1">
                    <a:alpha val="80000"/>
                  </a:schemeClr>
                </a:solidFill>
              </a:rPr>
              <a:t>Integrates </a:t>
            </a:r>
            <a:r>
              <a:rPr lang="en-US" sz="1600" b="1">
                <a:solidFill>
                  <a:schemeClr val="tx1">
                    <a:alpha val="80000"/>
                  </a:schemeClr>
                </a:solidFill>
              </a:rPr>
              <a:t>submission intake, backend orchestration, and printer control</a:t>
            </a:r>
            <a:r>
              <a:rPr lang="en-US" sz="1600">
                <a:solidFill>
                  <a:schemeClr val="tx1">
                    <a:alpha val="80000"/>
                  </a:schemeClr>
                </a:solidFill>
              </a:rPr>
              <a:t> into a single system</a:t>
            </a:r>
          </a:p>
          <a:p>
            <a:r>
              <a:rPr lang="en-US" sz="1600">
                <a:solidFill>
                  <a:schemeClr val="tx1">
                    <a:alpha val="80000"/>
                  </a:schemeClr>
                </a:solidFill>
              </a:rPr>
              <a:t>Uses </a:t>
            </a:r>
            <a:r>
              <a:rPr lang="en-US" sz="1600" b="1">
                <a:solidFill>
                  <a:schemeClr val="tx1">
                    <a:alpha val="80000"/>
                  </a:schemeClr>
                </a:solidFill>
              </a:rPr>
              <a:t>API-driven automation</a:t>
            </a:r>
            <a:r>
              <a:rPr lang="en-US" sz="1600">
                <a:solidFill>
                  <a:schemeClr val="tx1">
                    <a:alpha val="80000"/>
                  </a:schemeClr>
                </a:solidFill>
              </a:rPr>
              <a:t> to reduce manual intervention</a:t>
            </a:r>
          </a:p>
          <a:p>
            <a:r>
              <a:rPr lang="en-US" sz="1600">
                <a:solidFill>
                  <a:schemeClr val="tx1">
                    <a:alpha val="80000"/>
                  </a:schemeClr>
                </a:solidFill>
              </a:rPr>
              <a:t>Modular architecture allows future expansion without redesign</a:t>
            </a:r>
          </a:p>
          <a:p>
            <a:pPr marL="0" indent="0">
              <a:buNone/>
            </a:pPr>
            <a:r>
              <a:rPr lang="en-US" sz="1600" b="1">
                <a:solidFill>
                  <a:schemeClr val="tx1">
                    <a:alpha val="80000"/>
                  </a:schemeClr>
                </a:solidFill>
              </a:rPr>
              <a:t>Original Contributions</a:t>
            </a:r>
          </a:p>
          <a:p>
            <a:r>
              <a:rPr lang="en-US" sz="1600">
                <a:solidFill>
                  <a:schemeClr val="tx1">
                    <a:alpha val="80000"/>
                  </a:schemeClr>
                </a:solidFill>
              </a:rPr>
              <a:t>End-to-end lifecycle ownership of print jobs</a:t>
            </a:r>
          </a:p>
          <a:p>
            <a:r>
              <a:rPr lang="en-US" sz="1600">
                <a:solidFill>
                  <a:schemeClr val="tx1">
                    <a:alpha val="80000"/>
                  </a:schemeClr>
                </a:solidFill>
              </a:rPr>
              <a:t>Automated job queueing and dispatch to printers</a:t>
            </a:r>
          </a:p>
          <a:p>
            <a:r>
              <a:rPr lang="en-US" sz="1600">
                <a:solidFill>
                  <a:schemeClr val="tx1">
                    <a:alpha val="80000"/>
                  </a:schemeClr>
                </a:solidFill>
              </a:rPr>
              <a:t>Real-time printer status visibility via backend polling</a:t>
            </a:r>
          </a:p>
          <a:p>
            <a:pPr marL="0" indent="0">
              <a:buNone/>
            </a:pPr>
            <a:r>
              <a:rPr lang="en-US" sz="1600" b="1">
                <a:solidFill>
                  <a:schemeClr val="tx1">
                    <a:alpha val="80000"/>
                  </a:schemeClr>
                </a:solidFill>
              </a:rPr>
              <a:t>Methods</a:t>
            </a:r>
            <a:endParaRPr lang="en-US" sz="1600">
              <a:solidFill>
                <a:schemeClr val="tx1">
                  <a:alpha val="80000"/>
                </a:schemeClr>
              </a:solidFill>
            </a:endParaRPr>
          </a:p>
          <a:p>
            <a:r>
              <a:rPr lang="en-US" sz="1600">
                <a:solidFill>
                  <a:schemeClr val="tx1">
                    <a:alpha val="80000"/>
                  </a:schemeClr>
                </a:solidFill>
              </a:rPr>
              <a:t>System architecture design</a:t>
            </a:r>
          </a:p>
          <a:p>
            <a:r>
              <a:rPr lang="en-US" sz="1600">
                <a:solidFill>
                  <a:schemeClr val="tx1">
                    <a:alpha val="80000"/>
                  </a:schemeClr>
                </a:solidFill>
              </a:rPr>
              <a:t>API integration</a:t>
            </a:r>
          </a:p>
          <a:p>
            <a:r>
              <a:rPr lang="en-US" sz="1600">
                <a:solidFill>
                  <a:schemeClr val="tx1">
                    <a:alpha val="80000"/>
                  </a:schemeClr>
                </a:solidFill>
              </a:rPr>
              <a:t>Containerized backend development</a:t>
            </a:r>
          </a:p>
          <a:p>
            <a:r>
              <a:rPr lang="en-US" sz="1600">
                <a:solidFill>
                  <a:schemeClr val="tx1">
                    <a:alpha val="80000"/>
                  </a:schemeClr>
                </a:solidFill>
              </a:rPr>
              <a:t>Iterative prototyping and testing</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333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090273B-D530-CE6B-129E-97909B322399}"/>
              </a:ext>
            </a:extLst>
          </p:cNvPr>
          <p:cNvSpPr>
            <a:spLocks noGrp="1"/>
          </p:cNvSpPr>
          <p:nvPr>
            <p:ph type="title"/>
          </p:nvPr>
        </p:nvSpPr>
        <p:spPr>
          <a:xfrm>
            <a:off x="1188069" y="381935"/>
            <a:ext cx="4008583" cy="5974414"/>
          </a:xfrm>
        </p:spPr>
        <p:txBody>
          <a:bodyPr anchor="ctr">
            <a:normAutofit/>
          </a:bodyPr>
          <a:lstStyle/>
          <a:p>
            <a:r>
              <a:rPr lang="en-US" sz="8000" b="1">
                <a:solidFill>
                  <a:srgbClr val="FFFFFF"/>
                </a:solidFill>
              </a:rPr>
              <a:t>Broader Impacts</a:t>
            </a:r>
            <a:endParaRPr lang="en-US" sz="8000">
              <a:solidFill>
                <a:srgbClr val="FFFFFF"/>
              </a:solidFill>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2FADDAEE-B6F3-7D57-36E4-D1F45635E8FA}"/>
              </a:ext>
            </a:extLst>
          </p:cNvPr>
          <p:cNvSpPr>
            <a:spLocks noGrp="1"/>
          </p:cNvSpPr>
          <p:nvPr>
            <p:ph idx="1"/>
          </p:nvPr>
        </p:nvSpPr>
        <p:spPr>
          <a:xfrm>
            <a:off x="6297233" y="518400"/>
            <a:ext cx="4771607" cy="5837949"/>
          </a:xfrm>
        </p:spPr>
        <p:txBody>
          <a:bodyPr anchor="ctr">
            <a:normAutofit/>
          </a:bodyPr>
          <a:lstStyle/>
          <a:p>
            <a:pPr marL="0" indent="0">
              <a:buNone/>
            </a:pPr>
            <a:r>
              <a:rPr lang="en-US" sz="1900" b="1">
                <a:solidFill>
                  <a:schemeClr val="tx1">
                    <a:alpha val="80000"/>
                  </a:schemeClr>
                </a:solidFill>
              </a:rPr>
              <a:t>Educational Impact</a:t>
            </a:r>
            <a:endParaRPr lang="en-US" sz="1900">
              <a:solidFill>
                <a:schemeClr val="tx1">
                  <a:alpha val="80000"/>
                </a:schemeClr>
              </a:solidFill>
            </a:endParaRPr>
          </a:p>
          <a:p>
            <a:r>
              <a:rPr lang="en-US" sz="1900">
                <a:solidFill>
                  <a:schemeClr val="tx1">
                    <a:alpha val="80000"/>
                  </a:schemeClr>
                </a:solidFill>
              </a:rPr>
              <a:t>Improves student access to fabrication resources</a:t>
            </a:r>
          </a:p>
          <a:p>
            <a:r>
              <a:rPr lang="en-US" sz="1900">
                <a:solidFill>
                  <a:schemeClr val="tx1">
                    <a:alpha val="80000"/>
                  </a:schemeClr>
                </a:solidFill>
              </a:rPr>
              <a:t>Reduces wait times and confusion during print submission</a:t>
            </a:r>
          </a:p>
          <a:p>
            <a:r>
              <a:rPr lang="en-US" sz="1900">
                <a:solidFill>
                  <a:schemeClr val="tx1">
                    <a:alpha val="80000"/>
                  </a:schemeClr>
                </a:solidFill>
              </a:rPr>
              <a:t>Enhances learning through reliable, transparent tooling</a:t>
            </a:r>
          </a:p>
          <a:p>
            <a:pPr marL="0" indent="0">
              <a:buNone/>
            </a:pPr>
            <a:r>
              <a:rPr lang="en-US" sz="1900" b="1">
                <a:solidFill>
                  <a:schemeClr val="tx1">
                    <a:alpha val="80000"/>
                  </a:schemeClr>
                </a:solidFill>
              </a:rPr>
              <a:t>Operational Impact</a:t>
            </a:r>
            <a:endParaRPr lang="en-US" sz="1900">
              <a:solidFill>
                <a:schemeClr val="tx1">
                  <a:alpha val="80000"/>
                </a:schemeClr>
              </a:solidFill>
            </a:endParaRPr>
          </a:p>
          <a:p>
            <a:r>
              <a:rPr lang="en-US" sz="1900">
                <a:solidFill>
                  <a:schemeClr val="tx1">
                    <a:alpha val="80000"/>
                  </a:schemeClr>
                </a:solidFill>
              </a:rPr>
              <a:t>Reduces technician workload</a:t>
            </a:r>
          </a:p>
          <a:p>
            <a:r>
              <a:rPr lang="en-US" sz="1900">
                <a:solidFill>
                  <a:schemeClr val="tx1">
                    <a:alpha val="80000"/>
                  </a:schemeClr>
                </a:solidFill>
              </a:rPr>
              <a:t>Minimizes printer downtime</a:t>
            </a:r>
          </a:p>
          <a:p>
            <a:r>
              <a:rPr lang="en-US" sz="1900">
                <a:solidFill>
                  <a:schemeClr val="tx1">
                    <a:alpha val="80000"/>
                  </a:schemeClr>
                </a:solidFill>
              </a:rPr>
              <a:t>Enables better utilization of shared resources</a:t>
            </a:r>
          </a:p>
          <a:p>
            <a:pPr marL="0" indent="0">
              <a:buNone/>
            </a:pPr>
            <a:r>
              <a:rPr lang="en-US" sz="1900" b="1">
                <a:solidFill>
                  <a:schemeClr val="tx1">
                    <a:alpha val="80000"/>
                  </a:schemeClr>
                </a:solidFill>
              </a:rPr>
              <a:t>Scalability &amp; Adoption</a:t>
            </a:r>
            <a:endParaRPr lang="en-US" sz="1900">
              <a:solidFill>
                <a:schemeClr val="tx1">
                  <a:alpha val="80000"/>
                </a:schemeClr>
              </a:solidFill>
            </a:endParaRPr>
          </a:p>
          <a:p>
            <a:r>
              <a:rPr lang="en-US" sz="1900">
                <a:solidFill>
                  <a:schemeClr val="tx1">
                    <a:alpha val="80000"/>
                  </a:schemeClr>
                </a:solidFill>
              </a:rPr>
              <a:t>Can be adapted for universities, makerspaces, and research labs</a:t>
            </a:r>
          </a:p>
          <a:p>
            <a:r>
              <a:rPr lang="en-US" sz="1900">
                <a:solidFill>
                  <a:schemeClr val="tx1">
                    <a:alpha val="80000"/>
                  </a:schemeClr>
                </a:solidFill>
              </a:rPr>
              <a:t>Potential foundation for future automation in digital manufacturing</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6032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688E73-49B9-4052-A836-D248C825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B6AEE0C-07FE-4154-BC7C-2F20530BC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Cubes connected with a red line">
            <a:extLst>
              <a:ext uri="{FF2B5EF4-FFF2-40B4-BE49-F238E27FC236}">
                <a16:creationId xmlns:a16="http://schemas.microsoft.com/office/drawing/2014/main" id="{90EECE71-A0AC-9B02-4BA1-792345C769F4}"/>
              </a:ext>
            </a:extLst>
          </p:cNvPr>
          <p:cNvPicPr>
            <a:picLocks noChangeAspect="1"/>
          </p:cNvPicPr>
          <p:nvPr/>
        </p:nvPicPr>
        <p:blipFill>
          <a:blip r:embed="rId2">
            <a:alphaModFix amt="60000"/>
          </a:blip>
          <a:srcRect t="18645" b="8303"/>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8EB139D9-BA8E-EA6B-FE4B-48702C0FDEEF}"/>
              </a:ext>
            </a:extLst>
          </p:cNvPr>
          <p:cNvSpPr>
            <a:spLocks noGrp="1"/>
          </p:cNvSpPr>
          <p:nvPr>
            <p:ph type="title"/>
          </p:nvPr>
        </p:nvSpPr>
        <p:spPr>
          <a:xfrm>
            <a:off x="838199" y="557189"/>
            <a:ext cx="5155263" cy="5571899"/>
          </a:xfrm>
        </p:spPr>
        <p:txBody>
          <a:bodyPr>
            <a:normAutofit/>
          </a:bodyPr>
          <a:lstStyle/>
          <a:p>
            <a:r>
              <a:rPr lang="en-US">
                <a:solidFill>
                  <a:srgbClr val="FFFFFF"/>
                </a:solidFill>
              </a:rPr>
              <a:t>Design Specifications</a:t>
            </a:r>
          </a:p>
        </p:txBody>
      </p:sp>
      <p:sp>
        <p:nvSpPr>
          <p:cNvPr id="3" name="Content Placeholder 2">
            <a:extLst>
              <a:ext uri="{FF2B5EF4-FFF2-40B4-BE49-F238E27FC236}">
                <a16:creationId xmlns:a16="http://schemas.microsoft.com/office/drawing/2014/main" id="{8AB69B48-53A4-9532-7704-BBED6420E1A5}"/>
              </a:ext>
            </a:extLst>
          </p:cNvPr>
          <p:cNvSpPr>
            <a:spLocks noGrp="1"/>
          </p:cNvSpPr>
          <p:nvPr>
            <p:ph idx="1"/>
          </p:nvPr>
        </p:nvSpPr>
        <p:spPr>
          <a:xfrm>
            <a:off x="6195375" y="557189"/>
            <a:ext cx="5158424" cy="5571899"/>
          </a:xfrm>
        </p:spPr>
        <p:txBody>
          <a:bodyPr anchor="ctr">
            <a:normAutofit/>
          </a:bodyPr>
          <a:lstStyle/>
          <a:p>
            <a:pPr marL="0" indent="0">
              <a:buNone/>
            </a:pPr>
            <a:r>
              <a:rPr lang="en-US" sz="1700" b="1">
                <a:solidFill>
                  <a:srgbClr val="FFFFFF"/>
                </a:solidFill>
              </a:rPr>
              <a:t>System Overview</a:t>
            </a:r>
            <a:endParaRPr lang="en-US" sz="1700">
              <a:solidFill>
                <a:srgbClr val="FFFFFF"/>
              </a:solidFill>
            </a:endParaRPr>
          </a:p>
          <a:p>
            <a:r>
              <a:rPr lang="en-US" sz="1700">
                <a:solidFill>
                  <a:srgbClr val="FFFFFF"/>
                </a:solidFill>
              </a:rPr>
              <a:t>Centralized backend manages print job lifecycle</a:t>
            </a:r>
          </a:p>
          <a:p>
            <a:r>
              <a:rPr lang="en-US" sz="1700">
                <a:solidFill>
                  <a:srgbClr val="FFFFFF"/>
                </a:solidFill>
              </a:rPr>
              <a:t>Printer communication handled via OctoPrint API</a:t>
            </a:r>
          </a:p>
          <a:p>
            <a:r>
              <a:rPr lang="en-US" sz="1700">
                <a:solidFill>
                  <a:srgbClr val="FFFFFF"/>
                </a:solidFill>
              </a:rPr>
              <a:t>Submission data ingested from structured forms</a:t>
            </a:r>
          </a:p>
          <a:p>
            <a:pPr marL="0" indent="0">
              <a:buNone/>
            </a:pPr>
            <a:r>
              <a:rPr lang="en-US" sz="1700" b="1">
                <a:solidFill>
                  <a:srgbClr val="FFFFFF"/>
                </a:solidFill>
              </a:rPr>
              <a:t>Core Functional Requirements</a:t>
            </a:r>
            <a:endParaRPr lang="en-US" sz="1700">
              <a:solidFill>
                <a:srgbClr val="FFFFFF"/>
              </a:solidFill>
            </a:endParaRPr>
          </a:p>
          <a:p>
            <a:r>
              <a:rPr lang="en-US" sz="1700">
                <a:solidFill>
                  <a:srgbClr val="FFFFFF"/>
                </a:solidFill>
              </a:rPr>
              <a:t>Job submission and validation</a:t>
            </a:r>
          </a:p>
          <a:p>
            <a:r>
              <a:rPr lang="en-US" sz="1700">
                <a:solidFill>
                  <a:srgbClr val="FFFFFF"/>
                </a:solidFill>
              </a:rPr>
              <a:t>Queue management and dispatch</a:t>
            </a:r>
          </a:p>
          <a:p>
            <a:r>
              <a:rPr lang="en-US" sz="1700">
                <a:solidFill>
                  <a:srgbClr val="FFFFFF"/>
                </a:solidFill>
              </a:rPr>
              <a:t>Printer status monitoring</a:t>
            </a:r>
          </a:p>
          <a:p>
            <a:r>
              <a:rPr lang="en-US" sz="1700">
                <a:solidFill>
                  <a:srgbClr val="FFFFFF"/>
                </a:solidFill>
              </a:rPr>
              <a:t>Error handling and recovery</a:t>
            </a:r>
          </a:p>
          <a:p>
            <a:pPr marL="0" indent="0">
              <a:buNone/>
            </a:pPr>
            <a:r>
              <a:rPr lang="en-US" sz="1700" b="1">
                <a:solidFill>
                  <a:srgbClr val="FFFFFF"/>
                </a:solidFill>
              </a:rPr>
              <a:t>Design Diagrams</a:t>
            </a:r>
            <a:endParaRPr lang="en-US" sz="1700">
              <a:solidFill>
                <a:srgbClr val="FFFFFF"/>
              </a:solidFill>
            </a:endParaRPr>
          </a:p>
          <a:p>
            <a:r>
              <a:rPr lang="en-US" sz="1700">
                <a:solidFill>
                  <a:srgbClr val="FFFFFF"/>
                </a:solidFill>
              </a:rPr>
              <a:t>System context diagram</a:t>
            </a:r>
          </a:p>
          <a:p>
            <a:r>
              <a:rPr lang="en-US" sz="1700">
                <a:solidFill>
                  <a:srgbClr val="FFFFFF"/>
                </a:solidFill>
              </a:rPr>
              <a:t>Sequence diagram: submission → dispatch → status update</a:t>
            </a:r>
          </a:p>
        </p:txBody>
      </p:sp>
    </p:spTree>
    <p:extLst>
      <p:ext uri="{BB962C8B-B14F-4D97-AF65-F5344CB8AC3E}">
        <p14:creationId xmlns:p14="http://schemas.microsoft.com/office/powerpoint/2010/main" val="4231760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Blue blocks and networks technology background">
            <a:extLst>
              <a:ext uri="{FF2B5EF4-FFF2-40B4-BE49-F238E27FC236}">
                <a16:creationId xmlns:a16="http://schemas.microsoft.com/office/drawing/2014/main" id="{82B4A729-72B6-B69B-3DF8-A1A69C04ED63}"/>
              </a:ext>
            </a:extLst>
          </p:cNvPr>
          <p:cNvPicPr>
            <a:picLocks noChangeAspect="1"/>
          </p:cNvPicPr>
          <p:nvPr/>
        </p:nvPicPr>
        <p:blipFill>
          <a:blip r:embed="rId2">
            <a:alphaModFix amt="55000"/>
          </a:blip>
          <a:srcRect b="-446"/>
          <a:stretch>
            <a:fillRect/>
          </a:stretch>
        </p:blipFill>
        <p:spPr>
          <a:xfrm>
            <a:off x="20" y="-9107"/>
            <a:ext cx="12191980" cy="6858000"/>
          </a:xfrm>
          <a:prstGeom prst="rect">
            <a:avLst/>
          </a:prstGeom>
        </p:spPr>
      </p:pic>
      <p:sp>
        <p:nvSpPr>
          <p:cNvPr id="2" name="Title 1">
            <a:extLst>
              <a:ext uri="{FF2B5EF4-FFF2-40B4-BE49-F238E27FC236}">
                <a16:creationId xmlns:a16="http://schemas.microsoft.com/office/drawing/2014/main" id="{A6976166-7907-1E3E-D3B3-CF302DC662F6}"/>
              </a:ext>
            </a:extLst>
          </p:cNvPr>
          <p:cNvSpPr>
            <a:spLocks noGrp="1"/>
          </p:cNvSpPr>
          <p:nvPr>
            <p:ph type="title"/>
          </p:nvPr>
        </p:nvSpPr>
        <p:spPr>
          <a:xfrm>
            <a:off x="686834" y="591344"/>
            <a:ext cx="3200400" cy="5585619"/>
          </a:xfrm>
        </p:spPr>
        <p:txBody>
          <a:bodyPr>
            <a:normAutofit/>
          </a:bodyPr>
          <a:lstStyle/>
          <a:p>
            <a:r>
              <a:rPr lang="en-US">
                <a:solidFill>
                  <a:srgbClr val="FFFFFF"/>
                </a:solidFill>
              </a:rPr>
              <a:t>Technologies</a:t>
            </a:r>
          </a:p>
        </p:txBody>
      </p:sp>
      <p:sp>
        <p:nvSpPr>
          <p:cNvPr id="11" name="Arc 1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5798CD4-462D-82C9-A3BC-75A5EA414771}"/>
              </a:ext>
            </a:extLst>
          </p:cNvPr>
          <p:cNvSpPr>
            <a:spLocks noGrp="1"/>
          </p:cNvSpPr>
          <p:nvPr>
            <p:ph idx="1"/>
          </p:nvPr>
        </p:nvSpPr>
        <p:spPr>
          <a:xfrm>
            <a:off x="4447308" y="591344"/>
            <a:ext cx="6906491" cy="5585619"/>
          </a:xfrm>
        </p:spPr>
        <p:txBody>
          <a:bodyPr anchor="ctr">
            <a:normAutofit/>
          </a:bodyPr>
          <a:lstStyle/>
          <a:p>
            <a:pPr marL="0" indent="0">
              <a:buNone/>
            </a:pPr>
            <a:r>
              <a:rPr lang="en-US" sz="1000" b="1">
                <a:solidFill>
                  <a:srgbClr val="FFFFFF"/>
                </a:solidFill>
              </a:rPr>
              <a:t>Backend</a:t>
            </a:r>
            <a:endParaRPr lang="en-US" sz="1000">
              <a:solidFill>
                <a:srgbClr val="FFFFFF"/>
              </a:solidFill>
            </a:endParaRPr>
          </a:p>
          <a:p>
            <a:r>
              <a:rPr lang="en-US" sz="1000">
                <a:solidFill>
                  <a:srgbClr val="FFFFFF"/>
                </a:solidFill>
              </a:rPr>
              <a:t>Containerized service (Docker)</a:t>
            </a:r>
          </a:p>
          <a:p>
            <a:r>
              <a:rPr lang="en-US" sz="1000">
                <a:solidFill>
                  <a:srgbClr val="FFFFFF"/>
                </a:solidFill>
              </a:rPr>
              <a:t>RESTful API architecture</a:t>
            </a:r>
          </a:p>
          <a:p>
            <a:r>
              <a:rPr lang="en-US" sz="1000">
                <a:solidFill>
                  <a:srgbClr val="FFFFFF"/>
                </a:solidFill>
              </a:rPr>
              <a:t>Handles job orchestration and printer communication</a:t>
            </a:r>
          </a:p>
          <a:p>
            <a:pPr marL="0" indent="0">
              <a:buNone/>
            </a:pPr>
            <a:r>
              <a:rPr lang="en-US" sz="1000" b="1">
                <a:solidFill>
                  <a:srgbClr val="FFFFFF"/>
                </a:solidFill>
              </a:rPr>
              <a:t>Printer Integration</a:t>
            </a:r>
            <a:endParaRPr lang="en-US" sz="1000">
              <a:solidFill>
                <a:srgbClr val="FFFFFF"/>
              </a:solidFill>
            </a:endParaRPr>
          </a:p>
          <a:p>
            <a:r>
              <a:rPr lang="en-US" sz="1000">
                <a:solidFill>
                  <a:srgbClr val="FFFFFF"/>
                </a:solidFill>
              </a:rPr>
              <a:t>OctoPrint API for:</a:t>
            </a:r>
          </a:p>
          <a:p>
            <a:pPr lvl="1"/>
            <a:r>
              <a:rPr lang="en-US" sz="1000">
                <a:solidFill>
                  <a:srgbClr val="FFFFFF"/>
                </a:solidFill>
              </a:rPr>
              <a:t>Uploading print jobs</a:t>
            </a:r>
          </a:p>
          <a:p>
            <a:pPr lvl="1"/>
            <a:r>
              <a:rPr lang="en-US" sz="1000">
                <a:solidFill>
                  <a:srgbClr val="FFFFFF"/>
                </a:solidFill>
              </a:rPr>
              <a:t>Starting/stopping prints</a:t>
            </a:r>
          </a:p>
          <a:p>
            <a:pPr lvl="1"/>
            <a:r>
              <a:rPr lang="en-US" sz="1000">
                <a:solidFill>
                  <a:srgbClr val="FFFFFF"/>
                </a:solidFill>
              </a:rPr>
              <a:t>Monitoring printer status</a:t>
            </a:r>
          </a:p>
          <a:p>
            <a:pPr marL="0" indent="0">
              <a:buNone/>
            </a:pPr>
            <a:r>
              <a:rPr lang="en-US" sz="1000" b="1">
                <a:solidFill>
                  <a:srgbClr val="FFFFFF"/>
                </a:solidFill>
              </a:rPr>
              <a:t>Data &amp; Infrastructure</a:t>
            </a:r>
            <a:endParaRPr lang="en-US" sz="1000">
              <a:solidFill>
                <a:srgbClr val="FFFFFF"/>
              </a:solidFill>
            </a:endParaRPr>
          </a:p>
          <a:p>
            <a:r>
              <a:rPr lang="en-US" sz="1000">
                <a:solidFill>
                  <a:srgbClr val="FFFFFF"/>
                </a:solidFill>
              </a:rPr>
              <a:t>Structured submission data</a:t>
            </a:r>
          </a:p>
          <a:p>
            <a:r>
              <a:rPr lang="en-US" sz="1000">
                <a:solidFill>
                  <a:srgbClr val="FFFFFF"/>
                </a:solidFill>
              </a:rPr>
              <a:t>Modular design to support additional printers and labs</a:t>
            </a:r>
          </a:p>
          <a:p>
            <a:pPr marL="0" indent="0">
              <a:buNone/>
            </a:pPr>
            <a:r>
              <a:rPr lang="en-US" sz="1000" b="1">
                <a:solidFill>
                  <a:srgbClr val="FFFFFF"/>
                </a:solidFill>
              </a:rPr>
              <a:t>Why These Technologies</a:t>
            </a:r>
            <a:endParaRPr lang="en-US" sz="1000">
              <a:solidFill>
                <a:srgbClr val="FFFFFF"/>
              </a:solidFill>
            </a:endParaRPr>
          </a:p>
          <a:p>
            <a:r>
              <a:rPr lang="en-US" sz="1000">
                <a:solidFill>
                  <a:srgbClr val="FFFFFF"/>
                </a:solidFill>
              </a:rPr>
              <a:t>Proven reliability in 3D printing ecosystems</a:t>
            </a:r>
          </a:p>
          <a:p>
            <a:r>
              <a:rPr lang="en-US" sz="1000">
                <a:solidFill>
                  <a:srgbClr val="FFFFFF"/>
                </a:solidFill>
              </a:rPr>
              <a:t>Easy deployment and portability</a:t>
            </a:r>
          </a:p>
          <a:p>
            <a:r>
              <a:rPr lang="en-US" sz="1000">
                <a:solidFill>
                  <a:srgbClr val="FFFFFF"/>
                </a:solidFill>
              </a:rPr>
              <a:t>Strong community and documentation support</a:t>
            </a:r>
          </a:p>
        </p:txBody>
      </p:sp>
    </p:spTree>
    <p:extLst>
      <p:ext uri="{BB962C8B-B14F-4D97-AF65-F5344CB8AC3E}">
        <p14:creationId xmlns:p14="http://schemas.microsoft.com/office/powerpoint/2010/main" val="1392369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28D41-CED3-5581-F627-DAD3A8F9830B}"/>
              </a:ext>
            </a:extLst>
          </p:cNvPr>
          <p:cNvSpPr>
            <a:spLocks noGrp="1"/>
          </p:cNvSpPr>
          <p:nvPr>
            <p:ph type="title"/>
          </p:nvPr>
        </p:nvSpPr>
        <p:spPr>
          <a:xfrm>
            <a:off x="1046746" y="586822"/>
            <a:ext cx="3560252" cy="1645920"/>
          </a:xfrm>
        </p:spPr>
        <p:txBody>
          <a:bodyPr vert="horz" lIns="91440" tIns="45720" rIns="91440" bIns="45720" rtlCol="0" anchor="ctr">
            <a:normAutofit/>
          </a:bodyPr>
          <a:lstStyle/>
          <a:p>
            <a:r>
              <a:rPr lang="en-US" sz="3200" kern="1200">
                <a:solidFill>
                  <a:schemeClr val="tx1"/>
                </a:solidFill>
                <a:latin typeface="+mj-lt"/>
                <a:ea typeface="+mj-ea"/>
                <a:cs typeface="+mj-cs"/>
              </a:rPr>
              <a:t>Milestones</a:t>
            </a:r>
          </a:p>
        </p:txBody>
      </p:sp>
      <p:sp>
        <p:nvSpPr>
          <p:cNvPr id="24" name="Rectangle 2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5" name="Rectangle 24">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7AF53687-4C74-1904-DBD0-94339144922C}"/>
              </a:ext>
            </a:extLst>
          </p:cNvPr>
          <p:cNvSpPr txBox="1"/>
          <p:nvPr/>
        </p:nvSpPr>
        <p:spPr>
          <a:xfrm>
            <a:off x="5351164" y="586822"/>
            <a:ext cx="6002636" cy="1645920"/>
          </a:xfrm>
          <a:prstGeom prst="rect">
            <a:avLst/>
          </a:prstGeom>
        </p:spPr>
        <p:txBody>
          <a:bodyPr vert="horz" lIns="91440" tIns="45720" rIns="91440" bIns="45720" rtlCol="0" anchor="ctr">
            <a:normAutofit/>
          </a:bodyPr>
          <a:lstStyle/>
          <a:p>
            <a:pPr>
              <a:lnSpc>
                <a:spcPct val="90000"/>
              </a:lnSpc>
              <a:spcAft>
                <a:spcPts val="600"/>
              </a:spcAft>
            </a:pPr>
            <a:r>
              <a:rPr lang="en-US" b="1" dirty="0"/>
              <a:t>Deliverables</a:t>
            </a:r>
            <a:endParaRPr lang="en-US" dirty="0"/>
          </a:p>
          <a:p>
            <a:pPr indent="-228600">
              <a:lnSpc>
                <a:spcPct val="90000"/>
              </a:lnSpc>
              <a:spcAft>
                <a:spcPts val="600"/>
              </a:spcAft>
              <a:buFont typeface="Arial" panose="020B0604020202020204" pitchFamily="34" charset="0"/>
              <a:buChar char="•"/>
            </a:pPr>
            <a:r>
              <a:rPr lang="en-US" dirty="0"/>
              <a:t>Functional backend prototype</a:t>
            </a:r>
          </a:p>
          <a:p>
            <a:pPr indent="-228600">
              <a:lnSpc>
                <a:spcPct val="90000"/>
              </a:lnSpc>
              <a:spcAft>
                <a:spcPts val="600"/>
              </a:spcAft>
              <a:buFont typeface="Arial" panose="020B0604020202020204" pitchFamily="34" charset="0"/>
              <a:buChar char="•"/>
            </a:pPr>
            <a:r>
              <a:rPr lang="en-US" dirty="0"/>
              <a:t>Integrated printer control</a:t>
            </a:r>
          </a:p>
          <a:p>
            <a:pPr indent="-228600">
              <a:lnSpc>
                <a:spcPct val="90000"/>
              </a:lnSpc>
              <a:spcAft>
                <a:spcPts val="600"/>
              </a:spcAft>
              <a:buFont typeface="Arial" panose="020B0604020202020204" pitchFamily="34" charset="0"/>
              <a:buChar char="•"/>
            </a:pPr>
            <a:r>
              <a:rPr lang="en-US" dirty="0"/>
              <a:t>Expo demo presentation</a:t>
            </a:r>
          </a:p>
          <a:p>
            <a:pPr indent="-228600">
              <a:lnSpc>
                <a:spcPct val="90000"/>
              </a:lnSpc>
              <a:spcAft>
                <a:spcPts val="600"/>
              </a:spcAft>
              <a:buFont typeface="Arial" panose="020B0604020202020204" pitchFamily="34" charset="0"/>
              <a:buChar char="•"/>
            </a:pPr>
            <a:endParaRPr lang="en-US" dirty="0"/>
          </a:p>
        </p:txBody>
      </p:sp>
      <p:graphicFrame>
        <p:nvGraphicFramePr>
          <p:cNvPr id="4" name="Content Placeholder 3">
            <a:extLst>
              <a:ext uri="{FF2B5EF4-FFF2-40B4-BE49-F238E27FC236}">
                <a16:creationId xmlns:a16="http://schemas.microsoft.com/office/drawing/2014/main" id="{476D7F0D-9555-9936-231B-010CCEF0C692}"/>
              </a:ext>
            </a:extLst>
          </p:cNvPr>
          <p:cNvGraphicFramePr>
            <a:graphicFrameLocks noGrp="1"/>
          </p:cNvGraphicFramePr>
          <p:nvPr>
            <p:ph idx="1"/>
            <p:extLst>
              <p:ext uri="{D42A27DB-BD31-4B8C-83A1-F6EECF244321}">
                <p14:modId xmlns:p14="http://schemas.microsoft.com/office/powerpoint/2010/main" val="1031781163"/>
              </p:ext>
            </p:extLst>
          </p:nvPr>
        </p:nvGraphicFramePr>
        <p:xfrm>
          <a:off x="557784" y="2886492"/>
          <a:ext cx="11164824" cy="3178998"/>
        </p:xfrm>
        <a:graphic>
          <a:graphicData uri="http://schemas.openxmlformats.org/drawingml/2006/table">
            <a:tbl>
              <a:tblPr/>
              <a:tblGrid>
                <a:gridCol w="4240881">
                  <a:extLst>
                    <a:ext uri="{9D8B030D-6E8A-4147-A177-3AD203B41FA5}">
                      <a16:colId xmlns:a16="http://schemas.microsoft.com/office/drawing/2014/main" val="291504569"/>
                    </a:ext>
                  </a:extLst>
                </a:gridCol>
                <a:gridCol w="6923943">
                  <a:extLst>
                    <a:ext uri="{9D8B030D-6E8A-4147-A177-3AD203B41FA5}">
                      <a16:colId xmlns:a16="http://schemas.microsoft.com/office/drawing/2014/main" val="4152127951"/>
                    </a:ext>
                  </a:extLst>
                </a:gridCol>
              </a:tblGrid>
              <a:tr h="529833">
                <a:tc>
                  <a:txBody>
                    <a:bodyPr/>
                    <a:lstStyle/>
                    <a:p>
                      <a:pPr>
                        <a:buNone/>
                      </a:pPr>
                      <a:r>
                        <a:rPr lang="en-US" sz="2400" b="1" u="none" dirty="0"/>
                        <a:t>Date</a:t>
                      </a:r>
                    </a:p>
                  </a:txBody>
                  <a:tcPr marL="120416" marR="120416" marT="60208" marB="60208" anchor="ctr">
                    <a:lnL>
                      <a:noFill/>
                    </a:lnL>
                    <a:lnR>
                      <a:noFill/>
                    </a:lnR>
                    <a:lnT>
                      <a:noFill/>
                    </a:lnT>
                    <a:lnB>
                      <a:noFill/>
                    </a:lnB>
                    <a:noFill/>
                  </a:tcPr>
                </a:tc>
                <a:tc>
                  <a:txBody>
                    <a:bodyPr/>
                    <a:lstStyle/>
                    <a:p>
                      <a:pPr>
                        <a:buNone/>
                      </a:pPr>
                      <a:r>
                        <a:rPr lang="en-US" sz="2400" b="1" dirty="0"/>
                        <a:t>Milestone</a:t>
                      </a:r>
                    </a:p>
                  </a:txBody>
                  <a:tcPr marL="120416" marR="120416" marT="60208" marB="60208" anchor="ctr">
                    <a:lnL>
                      <a:noFill/>
                    </a:lnL>
                    <a:lnR>
                      <a:noFill/>
                    </a:lnR>
                    <a:lnT>
                      <a:noFill/>
                    </a:lnT>
                    <a:lnB>
                      <a:noFill/>
                    </a:lnB>
                    <a:noFill/>
                  </a:tcPr>
                </a:tc>
                <a:extLst>
                  <a:ext uri="{0D108BD9-81ED-4DB2-BD59-A6C34878D82A}">
                    <a16:rowId xmlns:a16="http://schemas.microsoft.com/office/drawing/2014/main" val="4225956521"/>
                  </a:ext>
                </a:extLst>
              </a:tr>
              <a:tr h="529833">
                <a:tc>
                  <a:txBody>
                    <a:bodyPr/>
                    <a:lstStyle/>
                    <a:p>
                      <a:pPr>
                        <a:buNone/>
                      </a:pPr>
                      <a:r>
                        <a:rPr lang="en-US" sz="2400"/>
                        <a:t>Fall 2024</a:t>
                      </a:r>
                    </a:p>
                  </a:txBody>
                  <a:tcPr marL="120416" marR="120416" marT="60208" marB="60208" anchor="ctr">
                    <a:lnL>
                      <a:noFill/>
                    </a:lnL>
                    <a:lnR>
                      <a:noFill/>
                    </a:lnR>
                    <a:lnT>
                      <a:noFill/>
                    </a:lnT>
                    <a:lnB>
                      <a:noFill/>
                    </a:lnB>
                    <a:noFill/>
                  </a:tcPr>
                </a:tc>
                <a:tc>
                  <a:txBody>
                    <a:bodyPr/>
                    <a:lstStyle/>
                    <a:p>
                      <a:pPr>
                        <a:buNone/>
                      </a:pPr>
                      <a:r>
                        <a:rPr lang="en-US" sz="2400" dirty="0"/>
                        <a:t>Problem definition &amp; system design</a:t>
                      </a:r>
                    </a:p>
                  </a:txBody>
                  <a:tcPr marL="120416" marR="120416" marT="60208" marB="60208" anchor="ctr">
                    <a:lnL>
                      <a:noFill/>
                    </a:lnL>
                    <a:lnR>
                      <a:noFill/>
                    </a:lnR>
                    <a:lnT>
                      <a:noFill/>
                    </a:lnT>
                    <a:lnB>
                      <a:noFill/>
                    </a:lnB>
                    <a:noFill/>
                  </a:tcPr>
                </a:tc>
                <a:extLst>
                  <a:ext uri="{0D108BD9-81ED-4DB2-BD59-A6C34878D82A}">
                    <a16:rowId xmlns:a16="http://schemas.microsoft.com/office/drawing/2014/main" val="3457868188"/>
                  </a:ext>
                </a:extLst>
              </a:tr>
              <a:tr h="529833">
                <a:tc>
                  <a:txBody>
                    <a:bodyPr/>
                    <a:lstStyle/>
                    <a:p>
                      <a:pPr>
                        <a:buNone/>
                      </a:pPr>
                      <a:r>
                        <a:rPr lang="en-US" sz="2400"/>
                        <a:t>Early Spring 2025</a:t>
                      </a:r>
                    </a:p>
                  </a:txBody>
                  <a:tcPr marL="120416" marR="120416" marT="60208" marB="60208" anchor="ctr">
                    <a:lnL>
                      <a:noFill/>
                    </a:lnL>
                    <a:lnR>
                      <a:noFill/>
                    </a:lnR>
                    <a:lnT>
                      <a:noFill/>
                    </a:lnT>
                    <a:lnB>
                      <a:noFill/>
                    </a:lnB>
                    <a:noFill/>
                  </a:tcPr>
                </a:tc>
                <a:tc>
                  <a:txBody>
                    <a:bodyPr/>
                    <a:lstStyle/>
                    <a:p>
                      <a:pPr>
                        <a:buNone/>
                      </a:pPr>
                      <a:r>
                        <a:rPr lang="en-US" sz="2400"/>
                        <a:t>Architecture diagrams &amp; tech selection</a:t>
                      </a:r>
                    </a:p>
                  </a:txBody>
                  <a:tcPr marL="120416" marR="120416" marT="60208" marB="60208" anchor="ctr">
                    <a:lnL>
                      <a:noFill/>
                    </a:lnL>
                    <a:lnR>
                      <a:noFill/>
                    </a:lnR>
                    <a:lnT>
                      <a:noFill/>
                    </a:lnT>
                    <a:lnB>
                      <a:noFill/>
                    </a:lnB>
                    <a:noFill/>
                  </a:tcPr>
                </a:tc>
                <a:extLst>
                  <a:ext uri="{0D108BD9-81ED-4DB2-BD59-A6C34878D82A}">
                    <a16:rowId xmlns:a16="http://schemas.microsoft.com/office/drawing/2014/main" val="4035546391"/>
                  </a:ext>
                </a:extLst>
              </a:tr>
              <a:tr h="529833">
                <a:tc>
                  <a:txBody>
                    <a:bodyPr/>
                    <a:lstStyle/>
                    <a:p>
                      <a:pPr>
                        <a:buNone/>
                      </a:pPr>
                      <a:r>
                        <a:rPr lang="en-US" sz="2400"/>
                        <a:t>Mid Spring 2025</a:t>
                      </a:r>
                    </a:p>
                  </a:txBody>
                  <a:tcPr marL="120416" marR="120416" marT="60208" marB="60208" anchor="ctr">
                    <a:lnL>
                      <a:noFill/>
                    </a:lnL>
                    <a:lnR>
                      <a:noFill/>
                    </a:lnR>
                    <a:lnT>
                      <a:noFill/>
                    </a:lnT>
                    <a:lnB>
                      <a:noFill/>
                    </a:lnB>
                    <a:noFill/>
                  </a:tcPr>
                </a:tc>
                <a:tc>
                  <a:txBody>
                    <a:bodyPr/>
                    <a:lstStyle/>
                    <a:p>
                      <a:pPr>
                        <a:buNone/>
                      </a:pPr>
                      <a:r>
                        <a:rPr lang="en-US" sz="2400"/>
                        <a:t>Backend development</a:t>
                      </a:r>
                    </a:p>
                  </a:txBody>
                  <a:tcPr marL="120416" marR="120416" marT="60208" marB="60208" anchor="ctr">
                    <a:lnL>
                      <a:noFill/>
                    </a:lnL>
                    <a:lnR>
                      <a:noFill/>
                    </a:lnR>
                    <a:lnT>
                      <a:noFill/>
                    </a:lnT>
                    <a:lnB>
                      <a:noFill/>
                    </a:lnB>
                    <a:noFill/>
                  </a:tcPr>
                </a:tc>
                <a:extLst>
                  <a:ext uri="{0D108BD9-81ED-4DB2-BD59-A6C34878D82A}">
                    <a16:rowId xmlns:a16="http://schemas.microsoft.com/office/drawing/2014/main" val="1286331715"/>
                  </a:ext>
                </a:extLst>
              </a:tr>
              <a:tr h="529833">
                <a:tc>
                  <a:txBody>
                    <a:bodyPr/>
                    <a:lstStyle/>
                    <a:p>
                      <a:pPr>
                        <a:buNone/>
                      </a:pPr>
                      <a:r>
                        <a:rPr lang="en-US" sz="2400"/>
                        <a:t>Late Spring 2025</a:t>
                      </a:r>
                    </a:p>
                  </a:txBody>
                  <a:tcPr marL="120416" marR="120416" marT="60208" marB="60208" anchor="ctr">
                    <a:lnL>
                      <a:noFill/>
                    </a:lnL>
                    <a:lnR>
                      <a:noFill/>
                    </a:lnR>
                    <a:lnT>
                      <a:noFill/>
                    </a:lnT>
                    <a:lnB>
                      <a:noFill/>
                    </a:lnB>
                    <a:noFill/>
                  </a:tcPr>
                </a:tc>
                <a:tc>
                  <a:txBody>
                    <a:bodyPr/>
                    <a:lstStyle/>
                    <a:p>
                      <a:pPr>
                        <a:buNone/>
                      </a:pPr>
                      <a:r>
                        <a:rPr lang="en-US" sz="2400"/>
                        <a:t>Printer integration &amp; testing</a:t>
                      </a:r>
                    </a:p>
                  </a:txBody>
                  <a:tcPr marL="120416" marR="120416" marT="60208" marB="60208" anchor="ctr">
                    <a:lnL>
                      <a:noFill/>
                    </a:lnL>
                    <a:lnR>
                      <a:noFill/>
                    </a:lnR>
                    <a:lnT>
                      <a:noFill/>
                    </a:lnT>
                    <a:lnB>
                      <a:noFill/>
                    </a:lnB>
                    <a:noFill/>
                  </a:tcPr>
                </a:tc>
                <a:extLst>
                  <a:ext uri="{0D108BD9-81ED-4DB2-BD59-A6C34878D82A}">
                    <a16:rowId xmlns:a16="http://schemas.microsoft.com/office/drawing/2014/main" val="432004439"/>
                  </a:ext>
                </a:extLst>
              </a:tr>
              <a:tr h="529833">
                <a:tc>
                  <a:txBody>
                    <a:bodyPr/>
                    <a:lstStyle/>
                    <a:p>
                      <a:pPr>
                        <a:buNone/>
                      </a:pPr>
                      <a:r>
                        <a:rPr lang="en-US" sz="2400"/>
                        <a:t>Expo</a:t>
                      </a:r>
                    </a:p>
                  </a:txBody>
                  <a:tcPr marL="120416" marR="120416" marT="60208" marB="60208" anchor="ctr">
                    <a:lnL>
                      <a:noFill/>
                    </a:lnL>
                    <a:lnR>
                      <a:noFill/>
                    </a:lnR>
                    <a:lnT>
                      <a:noFill/>
                    </a:lnT>
                    <a:lnB>
                      <a:noFill/>
                    </a:lnB>
                    <a:noFill/>
                  </a:tcPr>
                </a:tc>
                <a:tc>
                  <a:txBody>
                    <a:bodyPr/>
                    <a:lstStyle/>
                    <a:p>
                      <a:pPr>
                        <a:buNone/>
                      </a:pPr>
                      <a:r>
                        <a:rPr lang="en-US" sz="2400" dirty="0"/>
                        <a:t>Live demo &amp; final deliverables</a:t>
                      </a:r>
                    </a:p>
                  </a:txBody>
                  <a:tcPr marL="120416" marR="120416" marT="60208" marB="60208" anchor="ctr">
                    <a:lnL>
                      <a:noFill/>
                    </a:lnL>
                    <a:lnR>
                      <a:noFill/>
                    </a:lnR>
                    <a:lnT>
                      <a:noFill/>
                    </a:lnT>
                    <a:lnB>
                      <a:noFill/>
                    </a:lnB>
                    <a:noFill/>
                  </a:tcPr>
                </a:tc>
                <a:extLst>
                  <a:ext uri="{0D108BD9-81ED-4DB2-BD59-A6C34878D82A}">
                    <a16:rowId xmlns:a16="http://schemas.microsoft.com/office/drawing/2014/main" val="1295187538"/>
                  </a:ext>
                </a:extLst>
              </a:tr>
            </a:tbl>
          </a:graphicData>
        </a:graphic>
      </p:graphicFrame>
    </p:spTree>
    <p:extLst>
      <p:ext uri="{BB962C8B-B14F-4D97-AF65-F5344CB8AC3E}">
        <p14:creationId xmlns:p14="http://schemas.microsoft.com/office/powerpoint/2010/main" val="155108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688E73-49B9-4052-A836-D248C825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B6AEE0C-07FE-4154-BC7C-2F20530BC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 person reaching for a paper on a table full of paper and sticky notes">
            <a:extLst>
              <a:ext uri="{FF2B5EF4-FFF2-40B4-BE49-F238E27FC236}">
                <a16:creationId xmlns:a16="http://schemas.microsoft.com/office/drawing/2014/main" id="{F3E4374C-AF51-4E1E-9CA1-8067AB738E4D}"/>
              </a:ext>
            </a:extLst>
          </p:cNvPr>
          <p:cNvPicPr>
            <a:picLocks noChangeAspect="1"/>
          </p:cNvPicPr>
          <p:nvPr/>
        </p:nvPicPr>
        <p:blipFill>
          <a:blip r:embed="rId2">
            <a:alphaModFix amt="60000"/>
          </a:blip>
          <a:srcRect t="8913" b="6817"/>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CB1167C1-B4CA-9B5D-3991-14DBDB1294F2}"/>
              </a:ext>
            </a:extLst>
          </p:cNvPr>
          <p:cNvSpPr>
            <a:spLocks noGrp="1"/>
          </p:cNvSpPr>
          <p:nvPr>
            <p:ph type="title"/>
          </p:nvPr>
        </p:nvSpPr>
        <p:spPr>
          <a:xfrm>
            <a:off x="838199" y="557189"/>
            <a:ext cx="5155263" cy="5571899"/>
          </a:xfrm>
        </p:spPr>
        <p:txBody>
          <a:bodyPr>
            <a:normAutofit/>
          </a:bodyPr>
          <a:lstStyle/>
          <a:p>
            <a:r>
              <a:rPr lang="en-US">
                <a:solidFill>
                  <a:srgbClr val="FFFFFF"/>
                </a:solidFill>
              </a:rPr>
              <a:t>Results &amp; Current Progress</a:t>
            </a:r>
          </a:p>
        </p:txBody>
      </p:sp>
      <p:sp>
        <p:nvSpPr>
          <p:cNvPr id="3" name="Content Placeholder 2">
            <a:extLst>
              <a:ext uri="{FF2B5EF4-FFF2-40B4-BE49-F238E27FC236}">
                <a16:creationId xmlns:a16="http://schemas.microsoft.com/office/drawing/2014/main" id="{F07BF05F-8CCB-F0A0-AA60-E894D71704D6}"/>
              </a:ext>
            </a:extLst>
          </p:cNvPr>
          <p:cNvSpPr>
            <a:spLocks noGrp="1"/>
          </p:cNvSpPr>
          <p:nvPr>
            <p:ph idx="1"/>
          </p:nvPr>
        </p:nvSpPr>
        <p:spPr>
          <a:xfrm>
            <a:off x="6195375" y="557189"/>
            <a:ext cx="5158424" cy="5571899"/>
          </a:xfrm>
        </p:spPr>
        <p:txBody>
          <a:bodyPr anchor="ctr">
            <a:normAutofit/>
          </a:bodyPr>
          <a:lstStyle/>
          <a:p>
            <a:pPr marL="0" indent="0">
              <a:buNone/>
            </a:pPr>
            <a:r>
              <a:rPr lang="en-US" sz="2000" b="1">
                <a:solidFill>
                  <a:srgbClr val="FFFFFF"/>
                </a:solidFill>
              </a:rPr>
              <a:t>Completed</a:t>
            </a:r>
            <a:endParaRPr lang="en-US" sz="2000">
              <a:solidFill>
                <a:srgbClr val="FFFFFF"/>
              </a:solidFill>
            </a:endParaRPr>
          </a:p>
          <a:p>
            <a:r>
              <a:rPr lang="en-US" sz="2000">
                <a:solidFill>
                  <a:srgbClr val="FFFFFF"/>
                </a:solidFill>
              </a:rPr>
              <a:t>System architecture finalized</a:t>
            </a:r>
          </a:p>
          <a:p>
            <a:r>
              <a:rPr lang="en-US" sz="2000">
                <a:solidFill>
                  <a:srgbClr val="FFFFFF"/>
                </a:solidFill>
              </a:rPr>
              <a:t>Backend service implemented</a:t>
            </a:r>
          </a:p>
          <a:p>
            <a:r>
              <a:rPr lang="en-US" sz="2000">
                <a:solidFill>
                  <a:srgbClr val="FFFFFF"/>
                </a:solidFill>
              </a:rPr>
              <a:t>Successful communication with printer APIs</a:t>
            </a:r>
          </a:p>
          <a:p>
            <a:r>
              <a:rPr lang="en-US" sz="2000">
                <a:solidFill>
                  <a:srgbClr val="FFFFFF"/>
                </a:solidFill>
              </a:rPr>
              <a:t>Job dispatch and status polling working</a:t>
            </a:r>
          </a:p>
          <a:p>
            <a:pPr marL="0" indent="0">
              <a:buNone/>
            </a:pPr>
            <a:r>
              <a:rPr lang="en-US" sz="2000" b="1">
                <a:solidFill>
                  <a:srgbClr val="FFFFFF"/>
                </a:solidFill>
              </a:rPr>
              <a:t>In Progress</a:t>
            </a:r>
            <a:endParaRPr lang="en-US" sz="2000">
              <a:solidFill>
                <a:srgbClr val="FFFFFF"/>
              </a:solidFill>
            </a:endParaRPr>
          </a:p>
          <a:p>
            <a:r>
              <a:rPr lang="en-US" sz="2000">
                <a:solidFill>
                  <a:srgbClr val="FFFFFF"/>
                </a:solidFill>
              </a:rPr>
              <a:t>UI refinements</a:t>
            </a:r>
          </a:p>
          <a:p>
            <a:r>
              <a:rPr lang="en-US" sz="2000">
                <a:solidFill>
                  <a:srgbClr val="FFFFFF"/>
                </a:solidFill>
              </a:rPr>
              <a:t>Stability testing</a:t>
            </a:r>
          </a:p>
          <a:p>
            <a:r>
              <a:rPr lang="en-US" sz="2000">
                <a:solidFill>
                  <a:srgbClr val="FFFFFF"/>
                </a:solidFill>
              </a:rPr>
              <a:t>Demo polishing</a:t>
            </a:r>
          </a:p>
          <a:p>
            <a:pPr marL="0" indent="0">
              <a:buNone/>
            </a:pPr>
            <a:r>
              <a:rPr lang="en-US" sz="2000" b="1">
                <a:solidFill>
                  <a:srgbClr val="FFFFFF"/>
                </a:solidFill>
              </a:rPr>
              <a:t>Remaining Tasks</a:t>
            </a:r>
            <a:endParaRPr lang="en-US" sz="2000">
              <a:solidFill>
                <a:srgbClr val="FFFFFF"/>
              </a:solidFill>
            </a:endParaRPr>
          </a:p>
          <a:p>
            <a:r>
              <a:rPr lang="en-US" sz="2000">
                <a:solidFill>
                  <a:srgbClr val="FFFFFF"/>
                </a:solidFill>
              </a:rPr>
              <a:t>Final demo workflow</a:t>
            </a:r>
          </a:p>
          <a:p>
            <a:r>
              <a:rPr lang="en-US" sz="2000">
                <a:solidFill>
                  <a:srgbClr val="FFFFFF"/>
                </a:solidFill>
              </a:rPr>
              <a:t>Edge-case handling</a:t>
            </a:r>
          </a:p>
          <a:p>
            <a:r>
              <a:rPr lang="en-US" sz="2000">
                <a:solidFill>
                  <a:srgbClr val="FFFFFF"/>
                </a:solidFill>
              </a:rPr>
              <a:t>Documentation and Expo preparation</a:t>
            </a:r>
          </a:p>
          <a:p>
            <a:endParaRPr lang="en-US" sz="2000">
              <a:solidFill>
                <a:srgbClr val="FFFFFF"/>
              </a:solidFill>
            </a:endParaRPr>
          </a:p>
        </p:txBody>
      </p:sp>
    </p:spTree>
    <p:extLst>
      <p:ext uri="{BB962C8B-B14F-4D97-AF65-F5344CB8AC3E}">
        <p14:creationId xmlns:p14="http://schemas.microsoft.com/office/powerpoint/2010/main" val="879236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ople at the meeting desk">
            <a:extLst>
              <a:ext uri="{FF2B5EF4-FFF2-40B4-BE49-F238E27FC236}">
                <a16:creationId xmlns:a16="http://schemas.microsoft.com/office/drawing/2014/main" id="{A24E53FD-9A9B-98C9-2024-BA2B7E03AFD4}"/>
              </a:ext>
            </a:extLst>
          </p:cNvPr>
          <p:cNvPicPr>
            <a:picLocks noChangeAspect="1"/>
          </p:cNvPicPr>
          <p:nvPr/>
        </p:nvPicPr>
        <p:blipFill>
          <a:blip r:embed="rId2"/>
          <a:srcRect/>
          <a:stretch>
            <a:fillRect/>
          </a:stretch>
        </p:blipFill>
        <p:spPr>
          <a:xfrm>
            <a:off x="1" y="1"/>
            <a:ext cx="12192000" cy="6857999"/>
          </a:xfrm>
          <a:prstGeom prst="rect">
            <a:avLst/>
          </a:prstGeom>
        </p:spPr>
      </p:pic>
      <p:sp useBgFill="1">
        <p:nvSpPr>
          <p:cNvPr id="29" name="Freeform: Shape 28">
            <a:extLst>
              <a:ext uri="{FF2B5EF4-FFF2-40B4-BE49-F238E27FC236}">
                <a16:creationId xmlns:a16="http://schemas.microsoft.com/office/drawing/2014/main" id="{7E7D0C94-08B4-48AE-8813-CC4D60294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4259" y="609600"/>
            <a:ext cx="5372101"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DD0D366F-455D-4298-97E9-89785ADAE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4259" y="609600"/>
            <a:ext cx="5372101"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solidFill>
            <a:srgbClr val="82766A">
              <a:alpha val="1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Content Placeholder 2">
            <a:extLst>
              <a:ext uri="{FF2B5EF4-FFF2-40B4-BE49-F238E27FC236}">
                <a16:creationId xmlns:a16="http://schemas.microsoft.com/office/drawing/2014/main" id="{2E1F8ABC-2E6C-2345-F6D2-2A2EF5327B03}"/>
              </a:ext>
            </a:extLst>
          </p:cNvPr>
          <p:cNvSpPr>
            <a:spLocks noGrp="1"/>
          </p:cNvSpPr>
          <p:nvPr>
            <p:ph idx="1"/>
          </p:nvPr>
        </p:nvSpPr>
        <p:spPr>
          <a:xfrm>
            <a:off x="6651086" y="2524343"/>
            <a:ext cx="4458446" cy="3132654"/>
          </a:xfrm>
        </p:spPr>
        <p:txBody>
          <a:bodyPr anchor="ctr">
            <a:normAutofit/>
          </a:bodyPr>
          <a:lstStyle/>
          <a:p>
            <a:pPr marL="0" indent="0">
              <a:buNone/>
            </a:pPr>
            <a:r>
              <a:rPr lang="en-US" sz="1100" b="1" u="sng"/>
              <a:t>Challenge: Fragmented Tooling</a:t>
            </a:r>
            <a:endParaRPr lang="en-US" sz="1100" u="sng"/>
          </a:p>
          <a:p>
            <a:pPr>
              <a:buFont typeface="Wingdings" panose="05000000000000000000" pitchFamily="2" charset="2"/>
              <a:buChar char="Ø"/>
            </a:pPr>
            <a:r>
              <a:rPr lang="en-US" sz="1100" b="1">
                <a:highlight>
                  <a:srgbClr val="FFFF00"/>
                </a:highlight>
              </a:rPr>
              <a:t>Solution</a:t>
            </a:r>
            <a:r>
              <a:rPr lang="en-US" sz="1100" b="1"/>
              <a:t>:</a:t>
            </a:r>
            <a:r>
              <a:rPr lang="en-US" sz="1100"/>
              <a:t> Unified backend to manage entire print lifecycle</a:t>
            </a:r>
          </a:p>
          <a:p>
            <a:pPr marL="0" indent="0">
              <a:buNone/>
            </a:pPr>
            <a:r>
              <a:rPr lang="en-US" sz="1100" b="1" u="sng"/>
              <a:t>Challenge: Reliable Printer Communication</a:t>
            </a:r>
            <a:endParaRPr lang="en-US" sz="1100" u="sng"/>
          </a:p>
          <a:p>
            <a:pPr>
              <a:buFont typeface="Wingdings" panose="05000000000000000000" pitchFamily="2" charset="2"/>
              <a:buChar char="Ø"/>
            </a:pPr>
            <a:r>
              <a:rPr lang="en-US" sz="1100" b="1">
                <a:highlight>
                  <a:srgbClr val="FFFF00"/>
                </a:highlight>
              </a:rPr>
              <a:t>Solution</a:t>
            </a:r>
            <a:r>
              <a:rPr lang="en-US" sz="1100" b="1"/>
              <a:t>:</a:t>
            </a:r>
            <a:r>
              <a:rPr lang="en-US" sz="1100"/>
              <a:t> Standardized API integration and status polling</a:t>
            </a:r>
          </a:p>
          <a:p>
            <a:pPr marL="0" indent="0">
              <a:buNone/>
            </a:pPr>
            <a:r>
              <a:rPr lang="en-US" sz="1100" b="1" u="sng"/>
              <a:t>Challenge: Scope Management</a:t>
            </a:r>
          </a:p>
          <a:p>
            <a:pPr>
              <a:buFont typeface="Wingdings" panose="05000000000000000000" pitchFamily="2" charset="2"/>
              <a:buChar char="Ø"/>
            </a:pPr>
            <a:r>
              <a:rPr lang="en-US" sz="1100" b="1">
                <a:highlight>
                  <a:srgbClr val="FFFF00"/>
                </a:highlight>
              </a:rPr>
              <a:t>Solution</a:t>
            </a:r>
            <a:r>
              <a:rPr lang="en-US" sz="1100" b="1"/>
              <a:t>:</a:t>
            </a:r>
            <a:r>
              <a:rPr lang="en-US" sz="1100"/>
              <a:t> Focused Release 0.1.0 with clearly defined features</a:t>
            </a:r>
          </a:p>
          <a:p>
            <a:pPr marL="0" indent="0">
              <a:buNone/>
            </a:pPr>
            <a:r>
              <a:rPr lang="en-US" sz="1100" b="1"/>
              <a:t>Team Contributions</a:t>
            </a:r>
            <a:endParaRPr lang="en-US" sz="1100"/>
          </a:p>
          <a:p>
            <a:r>
              <a:rPr lang="en-US" sz="1100"/>
              <a:t>Backend design and implementation</a:t>
            </a:r>
          </a:p>
          <a:p>
            <a:r>
              <a:rPr lang="en-US" sz="1100"/>
              <a:t>API integration and testing</a:t>
            </a:r>
          </a:p>
          <a:p>
            <a:r>
              <a:rPr lang="en-US" sz="1100"/>
              <a:t>System documentation and demo planning</a:t>
            </a:r>
          </a:p>
          <a:p>
            <a:endParaRPr lang="en-US" sz="1100"/>
          </a:p>
        </p:txBody>
      </p:sp>
      <p:sp>
        <p:nvSpPr>
          <p:cNvPr id="2" name="Title 1">
            <a:extLst>
              <a:ext uri="{FF2B5EF4-FFF2-40B4-BE49-F238E27FC236}">
                <a16:creationId xmlns:a16="http://schemas.microsoft.com/office/drawing/2014/main" id="{D675BDEE-B69C-0C49-4AD6-E78848D5D88C}"/>
              </a:ext>
            </a:extLst>
          </p:cNvPr>
          <p:cNvSpPr>
            <a:spLocks noGrp="1"/>
          </p:cNvSpPr>
          <p:nvPr>
            <p:ph type="title"/>
          </p:nvPr>
        </p:nvSpPr>
        <p:spPr>
          <a:xfrm>
            <a:off x="6492728" y="1071350"/>
            <a:ext cx="4775162" cy="1242924"/>
          </a:xfrm>
        </p:spPr>
        <p:txBody>
          <a:bodyPr>
            <a:normAutofit/>
          </a:bodyPr>
          <a:lstStyle/>
          <a:p>
            <a:pPr algn="ctr"/>
            <a:r>
              <a:rPr lang="en-US" sz="3600"/>
              <a:t>Challenges &amp; Solutions</a:t>
            </a:r>
          </a:p>
        </p:txBody>
      </p:sp>
      <p:sp>
        <p:nvSpPr>
          <p:cNvPr id="31"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26434" y="399531"/>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2697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F6C9837591F204389FBA89351DD115C" ma:contentTypeVersion="9" ma:contentTypeDescription="Create a new document." ma:contentTypeScope="" ma:versionID="0b46315aa9b50f1d4317b9cfb4dd9846">
  <xsd:schema xmlns:xsd="http://www.w3.org/2001/XMLSchema" xmlns:xs="http://www.w3.org/2001/XMLSchema" xmlns:p="http://schemas.microsoft.com/office/2006/metadata/properties" xmlns:ns3="ca531705-a2a5-4fa6-8492-1cf07650c131" xmlns:ns4="a21d8189-6e9b-46bb-8edf-fe04e0995b9c" targetNamespace="http://schemas.microsoft.com/office/2006/metadata/properties" ma:root="true" ma:fieldsID="7fff4e22220edf0ccaddb780bc30f8aa" ns3:_="" ns4:_="">
    <xsd:import namespace="ca531705-a2a5-4fa6-8492-1cf07650c131"/>
    <xsd:import namespace="a21d8189-6e9b-46bb-8edf-fe04e0995b9c"/>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531705-a2a5-4fa6-8492-1cf07650c1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1d8189-6e9b-46bb-8edf-fe04e0995b9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a531705-a2a5-4fa6-8492-1cf07650c131" xsi:nil="true"/>
  </documentManagement>
</p:properties>
</file>

<file path=customXml/itemProps1.xml><?xml version="1.0" encoding="utf-8"?>
<ds:datastoreItem xmlns:ds="http://schemas.openxmlformats.org/officeDocument/2006/customXml" ds:itemID="{716BFC9C-FC2D-4357-9487-1045760722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531705-a2a5-4fa6-8492-1cf07650c131"/>
    <ds:schemaRef ds:uri="a21d8189-6e9b-46bb-8edf-fe04e0995b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246B9D3-2724-4D02-97EA-8304AFD90481}">
  <ds:schemaRefs>
    <ds:schemaRef ds:uri="http://schemas.microsoft.com/sharepoint/v3/contenttype/forms"/>
  </ds:schemaRefs>
</ds:datastoreItem>
</file>

<file path=customXml/itemProps3.xml><?xml version="1.0" encoding="utf-8"?>
<ds:datastoreItem xmlns:ds="http://schemas.openxmlformats.org/officeDocument/2006/customXml" ds:itemID="{F506431A-4615-422F-8744-4F7FE0F33A26}">
  <ds:schemaRefs>
    <ds:schemaRef ds:uri="http://schemas.microsoft.com/office/2006/documentManagement/types"/>
    <ds:schemaRef ds:uri="http://purl.org/dc/dcmitype/"/>
    <ds:schemaRef ds:uri="http://purl.org/dc/elements/1.1/"/>
    <ds:schemaRef ds:uri="http://purl.org/dc/terms/"/>
    <ds:schemaRef ds:uri="a21d8189-6e9b-46bb-8edf-fe04e0995b9c"/>
    <ds:schemaRef ds:uri="http://schemas.microsoft.com/office/infopath/2007/PartnerControls"/>
    <ds:schemaRef ds:uri="http://schemas.microsoft.com/office/2006/metadata/properties"/>
    <ds:schemaRef ds:uri="http://schemas.openxmlformats.org/package/2006/metadata/core-properties"/>
    <ds:schemaRef ds:uri="ca531705-a2a5-4fa6-8492-1cf07650c13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130</TotalTime>
  <Words>507</Words>
  <Application>Microsoft Office PowerPoint</Application>
  <PresentationFormat>Widescreen</PresentationFormat>
  <Paragraphs>110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Wingdings</vt:lpstr>
      <vt:lpstr>Office Theme</vt:lpstr>
      <vt:lpstr>PrintNet: A Scalable 3D Print Farm Management System</vt:lpstr>
      <vt:lpstr>Goals &amp; Background</vt:lpstr>
      <vt:lpstr>Intellectual Merits</vt:lpstr>
      <vt:lpstr>Broader Impacts</vt:lpstr>
      <vt:lpstr>Design Specifications</vt:lpstr>
      <vt:lpstr>Technologies</vt:lpstr>
      <vt:lpstr>Milestones</vt:lpstr>
      <vt:lpstr>Results &amp; Current Progress</vt:lpstr>
      <vt:lpstr>Challenges &amp; Solutions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Al-Khasawneh, Muneer (alkhasme)</dc:creator>
  <cp:lastModifiedBy>Koski, Mitch (koskima)</cp:lastModifiedBy>
  <cp:revision>2</cp:revision>
  <dcterms:created xsi:type="dcterms:W3CDTF">2026-02-17T23:41:42Z</dcterms:created>
  <dcterms:modified xsi:type="dcterms:W3CDTF">2026-02-18T02:46:13Z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0x0101001F6C9837591F204389FBA89351DD115C</vt:lpwstr>
  </property>
</Properties>
</file>